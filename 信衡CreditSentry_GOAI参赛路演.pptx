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cc6ec1bc44b44" /><Relationship Type="http://schemas.openxmlformats.org/officeDocument/2006/relationships/extended-properties" Target="/docProps/app.xml" Id="R5c21aac0540b4887" /><Relationship Type="http://schemas.openxmlformats.org/officeDocument/2006/relationships/officeDocument" Target="/ppt/presentation.xml" Id="R54336c459ce7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6f8a05a32f4df3"/>
  </p:sldMasterIdLst>
  <p:notesMasterIdLst>
    <p:notesMasterId xmlns:r="http://schemas.openxmlformats.org/officeDocument/2006/relationships" r:id="R84631b6538c14ea0"/>
  </p:notesMasterIdLst>
  <p:sldIdLst>
    <p:sldId xmlns:r="http://schemas.openxmlformats.org/officeDocument/2006/relationships" id="256" r:id="Rec5b5c7394bf4336"/>
    <p:sldId xmlns:r="http://schemas.openxmlformats.org/officeDocument/2006/relationships" id="257" r:id="Rd966069ee2ec4563"/>
    <p:sldId xmlns:r="http://schemas.openxmlformats.org/officeDocument/2006/relationships" id="258" r:id="Raf9a2d4c089d4a0b"/>
    <p:sldId xmlns:r="http://schemas.openxmlformats.org/officeDocument/2006/relationships" id="259" r:id="R172d97c52e9d467d"/>
    <p:sldId xmlns:r="http://schemas.openxmlformats.org/officeDocument/2006/relationships" id="260" r:id="Rf90dbb312d504295"/>
    <p:sldId xmlns:r="http://schemas.openxmlformats.org/officeDocument/2006/relationships" id="261" r:id="R376e52ff44474372"/>
    <p:sldId xmlns:r="http://schemas.openxmlformats.org/officeDocument/2006/relationships" id="262" r:id="Re9d302325e1940ec"/>
    <p:sldId xmlns:r="http://schemas.openxmlformats.org/officeDocument/2006/relationships" id="263" r:id="R37db7bec438e44b6"/>
    <p:sldId xmlns:r="http://schemas.openxmlformats.org/officeDocument/2006/relationships" id="264" r:id="R3c71ede72aa84b45"/>
    <p:sldId xmlns:r="http://schemas.openxmlformats.org/officeDocument/2006/relationships" id="265" r:id="R24bd91ba10954d12"/>
    <p:sldId xmlns:r="http://schemas.openxmlformats.org/officeDocument/2006/relationships" id="266" r:id="Ra181276f6e684ab1"/>
    <p:sldId xmlns:r="http://schemas.openxmlformats.org/officeDocument/2006/relationships" id="267" r:id="Rb10e99a1ba334794"/>
    <p:sldId xmlns:r="http://schemas.openxmlformats.org/officeDocument/2006/relationships" id="268" r:id="R16b635c9e7bb4944"/>
    <p:sldId xmlns:r="http://schemas.openxmlformats.org/officeDocument/2006/relationships" id="269" r:id="Rbbbedb7a781e4958"/>
    <p:sldId xmlns:r="http://schemas.openxmlformats.org/officeDocument/2006/relationships" id="270" r:id="Rc3b5be9f54ca48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a05ad847c14753" /><Relationship Type="http://schemas.openxmlformats.org/officeDocument/2006/relationships/slideMaster" Target="/ppt/slideMasters/slideMaster1.xml" Id="Ra26f8a05a32f4df3" /><Relationship Type="http://schemas.openxmlformats.org/officeDocument/2006/relationships/notesMaster" Target="/ppt/notesMasters/notesMaster1.xml" Id="R84631b6538c14ea0" /><Relationship Type="http://schemas.openxmlformats.org/officeDocument/2006/relationships/presProps" Target="/ppt/presProps.xml" Id="Rc1ab8f9e525f444c" /><Relationship Type="http://schemas.openxmlformats.org/officeDocument/2006/relationships/tableStyles" Target="/ppt/tableStyles.xml" Id="R9d70af38de254272" /><Relationship Type="http://schemas.openxmlformats.org/officeDocument/2006/relationships/slide" Target="/ppt/slides/slide1.xml" Id="Rec5b5c7394bf4336" /><Relationship Type="http://schemas.openxmlformats.org/officeDocument/2006/relationships/slide" Target="/ppt/slides/slide2.xml" Id="Rd966069ee2ec4563" /><Relationship Type="http://schemas.openxmlformats.org/officeDocument/2006/relationships/slide" Target="/ppt/slides/slide3.xml" Id="Raf9a2d4c089d4a0b" /><Relationship Type="http://schemas.openxmlformats.org/officeDocument/2006/relationships/slide" Target="/ppt/slides/slide4.xml" Id="R172d97c52e9d467d" /><Relationship Type="http://schemas.openxmlformats.org/officeDocument/2006/relationships/slide" Target="/ppt/slides/slide5.xml" Id="Rf90dbb312d504295" /><Relationship Type="http://schemas.openxmlformats.org/officeDocument/2006/relationships/slide" Target="/ppt/slides/slide6.xml" Id="R376e52ff44474372" /><Relationship Type="http://schemas.openxmlformats.org/officeDocument/2006/relationships/slide" Target="/ppt/slides/slide7.xml" Id="Re9d302325e1940ec" /><Relationship Type="http://schemas.openxmlformats.org/officeDocument/2006/relationships/slide" Target="/ppt/slides/slide8.xml" Id="R37db7bec438e44b6" /><Relationship Type="http://schemas.openxmlformats.org/officeDocument/2006/relationships/slide" Target="/ppt/slides/slide9.xml" Id="R3c71ede72aa84b45" /><Relationship Type="http://schemas.openxmlformats.org/officeDocument/2006/relationships/slide" Target="/ppt/slides/slide10.xml" Id="R24bd91ba10954d12" /><Relationship Type="http://schemas.openxmlformats.org/officeDocument/2006/relationships/slide" Target="/ppt/slides/slide11.xml" Id="Ra181276f6e684ab1" /><Relationship Type="http://schemas.openxmlformats.org/officeDocument/2006/relationships/slide" Target="/ppt/slides/slide12.xml" Id="Rb10e99a1ba334794" /><Relationship Type="http://schemas.openxmlformats.org/officeDocument/2006/relationships/slide" Target="/ppt/slides/slide13.xml" Id="R16b635c9e7bb4944" /><Relationship Type="http://schemas.openxmlformats.org/officeDocument/2006/relationships/slide" Target="/ppt/slides/slide14.xml" Id="Rbbbedb7a781e4958" /><Relationship Type="http://schemas.openxmlformats.org/officeDocument/2006/relationships/slide" Target="/ppt/slides/slide15.xml" Id="Rc3b5be9f54ca48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860bcf79904f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72d1c3a887460d" /><Relationship Type="http://schemas.openxmlformats.org/officeDocument/2006/relationships/notesMaster" Target="/ppt/notesMasters/notesMaster1.xml" Id="R559e07c457a7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df9e9f4c314da6" /><Relationship Type="http://schemas.openxmlformats.org/officeDocument/2006/relationships/notesMaster" Target="/ppt/notesMasters/notesMaster1.xml" Id="Rfe24b68e6c79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556820e8264776" /><Relationship Type="http://schemas.openxmlformats.org/officeDocument/2006/relationships/notesMaster" Target="/ppt/notesMasters/notesMaster1.xml" Id="Rce1f9e06eefb42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5b9ee6dd54496b" /><Relationship Type="http://schemas.openxmlformats.org/officeDocument/2006/relationships/notesMaster" Target="/ppt/notesMasters/notesMaster1.xml" Id="R4536deb0966841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45b77e760a4f3d" /><Relationship Type="http://schemas.openxmlformats.org/officeDocument/2006/relationships/notesMaster" Target="/ppt/notesMasters/notesMaster1.xml" Id="R08d2eeb8329c4d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28e6cf94ac4ee7" /><Relationship Type="http://schemas.openxmlformats.org/officeDocument/2006/relationships/notesMaster" Target="/ppt/notesMasters/notesMaster1.xml" Id="R5b29a5ed11a24f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e0a5e53a4240a4" /><Relationship Type="http://schemas.openxmlformats.org/officeDocument/2006/relationships/notesMaster" Target="/ppt/notesMasters/notesMaster1.xml" Id="R71320b94d6954f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2fac4068c54df4" /><Relationship Type="http://schemas.openxmlformats.org/officeDocument/2006/relationships/notesMaster" Target="/ppt/notesMasters/notesMaster1.xml" Id="R2ca16e4ffa9d45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e8c8af2aa40a0" /><Relationship Type="http://schemas.openxmlformats.org/officeDocument/2006/relationships/notesMaster" Target="/ppt/notesMasters/notesMaster1.xml" Id="R8cf7d3b10d1f4d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b3578168dc4852" /><Relationship Type="http://schemas.openxmlformats.org/officeDocument/2006/relationships/notesMaster" Target="/ppt/notesMasters/notesMaster1.xml" Id="R08dd0fe2df164b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47d6c3902942d1" /><Relationship Type="http://schemas.openxmlformats.org/officeDocument/2006/relationships/notesMaster" Target="/ppt/notesMasters/notesMaster1.xml" Id="Rfbbcce30fac44e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f1127799a64e32" /><Relationship Type="http://schemas.openxmlformats.org/officeDocument/2006/relationships/notesMaster" Target="/ppt/notesMasters/notesMaster1.xml" Id="R7366b20b442b4b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17a6446c3440ef" /><Relationship Type="http://schemas.openxmlformats.org/officeDocument/2006/relationships/notesMaster" Target="/ppt/notesMasters/notesMaster1.xml" Id="Rf82bd1a7b81540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bfc96cb21248d7" /><Relationship Type="http://schemas.openxmlformats.org/officeDocument/2006/relationships/notesMaster" Target="/ppt/notesMasters/notesMaster1.xml" Id="Rf83b58b97a0e41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f91ecf54fc408b" /><Relationship Type="http://schemas.openxmlformats.org/officeDocument/2006/relationships/notesMaster" Target="/ppt/notesMasters/notesMaster1.xml" Id="Rab202a753bdf40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docs/项目一页纸.md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§这是什么</a:t>
            </a:r>
          </a:p>
          <a:p xmlns:a="http://schemas.openxmlformats.org/drawingml/2006/main">
            <a:r>
              <a:t>- docs/项目一页纸.md §目标场景与核心问题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docs/项目一页纸.md §方案概述 / 可复制性</a:t>
            </a:r>
          </a:p>
          <a:p xmlns:a="http://schemas.openxmlformats.org/drawingml/2006/main">
            <a:r>
              <a:t>- README.md §每次运行的产出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agentteams/team.yaml</a:t>
            </a:r>
          </a:p>
          <a:p xmlns:a="http://schemas.openxmlformats.org/drawingml/2006/main">
            <a:r>
              <a:t>- agentteams/routing-table.yaml</a:t>
            </a:r>
          </a:p>
          <a:p xmlns:a="http://schemas.openxmlformats.org/drawingml/2006/main">
            <a:r>
              <a:t>- docs/架构图.html</a:t>
            </a:r>
          </a:p>
          <a:p xmlns:a="http://schemas.openxmlformats.org/drawingml/2006/main">
            <a:r>
              <a:t>- README.md §工程结构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docs/agent-decomposition-law.md</a:t>
            </a:r>
          </a:p>
          <a:p xmlns:a="http://schemas.openxmlformats.org/drawingml/2006/main">
            <a:r>
              <a:t>- docs/Agent-Identity清单.md</a:t>
            </a:r>
          </a:p>
          <a:p xmlns:a="http://schemas.openxmlformats.org/drawingml/2006/main">
            <a:r>
              <a:t>- poc/creditsentry/permissions.py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agentteams/routing-table.yaml</a:t>
            </a:r>
          </a:p>
          <a:p xmlns:a="http://schemas.openxmlformats.org/drawingml/2006/main">
            <a:r>
              <a:t>- poc/creditsentry/routing.py</a:t>
            </a:r>
          </a:p>
          <a:p xmlns:a="http://schemas.openxmlformats.org/drawingml/2006/main">
            <a:r>
              <a:t>- poc/creditsentry/context.py</a:t>
            </a:r>
          </a:p>
          <a:p xmlns:a="http://schemas.openxmlformats.org/drawingml/2006/main">
            <a:r>
              <a:t>- tools/live_conformance.py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poc/creditsentry/ledger.py</a:t>
            </a:r>
          </a:p>
          <a:p xmlns:a="http://schemas.openxmlformats.org/drawingml/2006/main">
            <a:r>
              <a:t>- poc/creditsentry/checklist.py</a:t>
            </a:r>
          </a:p>
          <a:p xmlns:a="http://schemas.openxmlformats.org/drawingml/2006/main">
            <a:r>
              <a:t>- poc/creditsentry/context.py</a:t>
            </a:r>
          </a:p>
          <a:p xmlns:a="http://schemas.openxmlformats.org/drawingml/2006/main">
            <a:r>
              <a:t>- README.md §三个设计主张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poc/creditsentry/gate.py</a:t>
            </a:r>
          </a:p>
          <a:p xmlns:a="http://schemas.openxmlformats.org/drawingml/2006/main">
            <a:r>
              <a:t>- skills/RiskGate/SKILL.md</a:t>
            </a:r>
          </a:p>
          <a:p xmlns:a="http://schemas.openxmlformats.org/drawingml/2006/main">
            <a:r>
              <a:t>- poc/test_safety.py</a:t>
            </a:r>
          </a:p>
          <a:p xmlns:a="http://schemas.openxmlformats.org/drawingml/2006/main">
            <a:r>
              <a:t>- poc/out/CASE-001/metrics.json</a:t>
            </a:r>
          </a:p>
          <a:p xmlns:a="http://schemas.openxmlformats.org/drawingml/2006/main">
            <a:r>
              <a:t>- poc/out/CASE-003/metrics.json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docs/Skill清单.md</a:t>
            </a:r>
          </a:p>
          <a:p xmlns:a="http://schemas.openxmlformats.org/drawingml/2006/main">
            <a:r>
              <a:t>- docs/项目一页纸.md §关键 Skill 与工具链</a:t>
            </a:r>
          </a:p>
          <a:p xmlns:a="http://schemas.openxmlformats.org/drawingml/2006/main">
            <a:r>
              <a:t>- mcp_servers/registry.py</a:t>
            </a:r>
          </a:p>
          <a:p xmlns:a="http://schemas.openxmlformats.org/drawingml/2006/main">
            <a:r>
              <a:t>- docs/真机部署与API方案.md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rerun: python3 poc/test_safety.py (72/72)</a:t>
            </a:r>
          </a:p>
          <a:p xmlns:a="http://schemas.openxmlformats.org/drawingml/2006/main">
            <a:r>
              <a:t>- Local rerun: python3 tools/run_evals.py (906/906 executed; 8 uncovered)</a:t>
            </a:r>
          </a:p>
          <a:p xmlns:a="http://schemas.openxmlformats.org/drawingml/2006/main">
            <a:r>
              <a:t>- Local rerun: python3 tools/check_pit.py (0 issues)</a:t>
            </a:r>
          </a:p>
          <a:p xmlns:a="http://schemas.openxmlformats.org/drawingml/2006/main">
            <a:r>
              <a:t>- Local rerun: python3 tools/live_conformance.py (13/13)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poc/out/CASE-001/metrics.json</a:t>
            </a:r>
          </a:p>
          <a:p xmlns:a="http://schemas.openxmlformats.org/drawingml/2006/main">
            <a:r>
              <a:t>- poc/out/CASE-002/metrics.json</a:t>
            </a:r>
          </a:p>
          <a:p xmlns:a="http://schemas.openxmlformats.org/drawingml/2006/main">
            <a:r>
              <a:t>- poc/out/CASE-003/metrics.json</a:t>
            </a:r>
          </a:p>
          <a:p xmlns:a="http://schemas.openxmlformats.org/drawingml/2006/main">
            <a:r>
              <a:t>- README.md §三条演示链路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§快速开始 / 两种推理模式</a:t>
            </a:r>
          </a:p>
          <a:p xmlns:a="http://schemas.openxmlformats.org/drawingml/2006/main">
            <a:r>
              <a:t>- docs/真机部署与API方案.md</a:t>
            </a:r>
          </a:p>
          <a:p xmlns:a="http://schemas.openxmlformats.org/drawingml/2006/main">
            <a:r>
              <a:t>- docs/真机部署与验证方案.md §T0-T5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docs/真机部署与验证方案.md §时间盒</a:t>
            </a:r>
          </a:p>
          <a:p xmlns:a="http://schemas.openxmlformats.org/drawingml/2006/main">
            <a:r>
              <a:t>- docs/接口与实验方案.md §评估与数据集</a:t>
            </a:r>
          </a:p>
          <a:p xmlns:a="http://schemas.openxmlformats.org/drawingml/2006/main">
            <a:r>
              <a:t>- tools/run_evals.py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§开源计划 / 适用边界</a:t>
            </a:r>
          </a:p>
          <a:p xmlns:a="http://schemas.openxmlformats.org/drawingml/2006/main">
            <a:r>
              <a:t>- docs/项目一页纸.md §开放 / 开源贡献</a:t>
            </a:r>
          </a:p>
          <a:p xmlns:a="http://schemas.openxmlformats.org/drawingml/2006/main">
            <a:r>
              <a:t>- poc/fixtures/case_003.json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verification results on 2026-08-15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27c27869045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e8b6d2ece44d44" /><Relationship Type="http://schemas.openxmlformats.org/officeDocument/2006/relationships/slideLayout" Target="/ppt/slideLayouts/slideLayout1.xml" Id="R2bb80e36403448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80e36403448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4eff0db634b67" /><Relationship Type="http://schemas.openxmlformats.org/officeDocument/2006/relationships/notesSlide" Target="/ppt/notesSlides/notesSlide1.xml" Id="Rba70e5ed51de4d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a175e7df46bb" /><Relationship Type="http://schemas.openxmlformats.org/officeDocument/2006/relationships/notesSlide" Target="/ppt/notesSlides/notesSlide2.xml" Id="R3cf28b2a0c8443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54071545c44e3" /><Relationship Type="http://schemas.openxmlformats.org/officeDocument/2006/relationships/notesSlide" Target="/ppt/notesSlides/notesSlide3.xml" Id="Rabd94ce95f6247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f28c808d49eb" /><Relationship Type="http://schemas.openxmlformats.org/officeDocument/2006/relationships/notesSlide" Target="/ppt/notesSlides/notesSlide4.xml" Id="Rb299322e7f144a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e3436b878433e" /><Relationship Type="http://schemas.openxmlformats.org/officeDocument/2006/relationships/notesSlide" Target="/ppt/notesSlides/notesSlide5.xml" Id="Rd805879edcd541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c3ac4ea4a42dd" /><Relationship Type="http://schemas.openxmlformats.org/officeDocument/2006/relationships/notesSlide" Target="/ppt/notesSlides/notesSlide6.xml" Id="R47e710d1d7b941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853f5fa0429b" /><Relationship Type="http://schemas.openxmlformats.org/officeDocument/2006/relationships/notesSlide" Target="/ppt/notesSlides/notesSlide7.xml" Id="Ra0ffbe53e4364a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6c4fec6524ea4" /><Relationship Type="http://schemas.openxmlformats.org/officeDocument/2006/relationships/notesSlide" Target="/ppt/notesSlides/notesSlide8.xml" Id="R312ce6785d904f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1d034f958494e" /><Relationship Type="http://schemas.openxmlformats.org/officeDocument/2006/relationships/notesSlide" Target="/ppt/notesSlides/notesSlide9.xml" Id="R4175d906a1cd41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ec14486d14f9e" /><Relationship Type="http://schemas.openxmlformats.org/officeDocument/2006/relationships/notesSlide" Target="/ppt/notesSlides/notesSlide10.xml" Id="R94d22b546a6048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5e90a66304b8b" /><Relationship Type="http://schemas.openxmlformats.org/officeDocument/2006/relationships/chart" Target="/ppt/slides/charts/chart1.xml" Id="R54c3ba967eda492f" /><Relationship Type="http://schemas.openxmlformats.org/officeDocument/2006/relationships/notesSlide" Target="/ppt/notesSlides/notesSlide11.xml" Id="Rb01efa0d559a45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98c255ac041bd" /><Relationship Type="http://schemas.openxmlformats.org/officeDocument/2006/relationships/notesSlide" Target="/ppt/notesSlides/notesSlide12.xml" Id="R00e166bb4c3e41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f7999c4194995" /><Relationship Type="http://schemas.openxmlformats.org/officeDocument/2006/relationships/notesSlide" Target="/ppt/notesSlides/notesSlide13.xml" Id="R3b10caeb6ec147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cfe85001f49f7" /><Relationship Type="http://schemas.openxmlformats.org/officeDocument/2006/relationships/notesSlide" Target="/ppt/notesSlides/notesSlide14.xml" Id="R3a56314ce80c4b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b4fc7c557430c" /><Relationship Type="http://schemas.openxmlformats.org/officeDocument/2006/relationships/notesSlide" Target="/ppt/notesSlides/notesSlide15.xml" Id="R7edd878b2ba2477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证据充分度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C</c:v>
              </c:pt>
              <c:pt idx="1">
                <c:v>B</c:v>
              </c:pt>
              <c:pt idx="2">
                <c:v>A</c:v>
              </c:pt>
            </c:strLit>
          </c:cat>
          <c:val>
            <c:numLit>
              <c:formatCode>General</c:formatCode>
              <c:ptCount val="3"/>
              <c:pt idx="0">
                <c:v>81.8</c:v>
              </c:pt>
              <c:pt idx="1">
                <c:v>100</c:v>
              </c:pt>
              <c:pt idx="2">
                <c:v>93.3</c:v>
              </c:pt>
            </c:numLit>
          </c:val>
        </c:ser>
        <c:ser>
          <c:idx val="1"/>
          <c:order val="1"/>
          <c:tx>
            <c:v>工具成功率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</c:v>
              </c:pt>
              <c:pt idx="1">
                <c:v>B</c:v>
              </c:pt>
              <c:pt idx="2">
                <c:v>A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97.37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0D1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A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7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0D1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F67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ver-field">
            <a:extLst xmlns:a="http://schemas.openxmlformats.org/drawingml/2006/main">
              <a:ext uri="{FF2B5EF4-FFF2-40B4-BE49-F238E27FC236}">
                <a16:creationId xmlns:a16="http://schemas.microsoft.com/office/drawing/2014/main" id="{4F08DF0C-15FE-4645-BA08-A75070A6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0"/>
            <a:ext cx="405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658759B-5B9B-4AB5-B90D-7EECBAF3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GOAI · 新智基座 / Agent Infra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6F191F1-274C-4657-843D-243EC9DC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03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信衡</a:t>
            </a:r>
          </a:p>
          <a:p xmlns:a="http://schemas.openxmlformats.org/drawingml/2006/main">
            <a:pPr algn="l">
              <a:defRPr sz="57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CreditSentry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A330036-10BE-43CD-8D4C-6D015371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647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贷后风险预警到授信处置的</a:t>
            </a:r>
          </a:p>
          <a:p xmlns:a="http://schemas.openxmlformats.org/drawingml/2006/main">
            <a:pPr algn="l">
              <a:defRPr sz="22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多 Agent 可举证自主闭环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08120FCA-A6EF-4B7B-AF6F-AF962489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10"/>
            </a:solidFill>
            <a:prstDash val="solid"/>
          </a:ln>
        </p:spPr>
      </p:sp>
      <p:sp>
        <p:nvSpPr>
          <p:cNvPr id="6" name="cover-claim">
            <a:extLst xmlns:a="http://schemas.openxmlformats.org/drawingml/2006/main">
              <a:ext uri="{FF2B5EF4-FFF2-40B4-BE49-F238E27FC236}">
                <a16:creationId xmlns:a16="http://schemas.microsoft.com/office/drawing/2014/main" id="{47D2E633-646B-49FA-84DE-4DBF31AC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不是更聪明的预警</a:t>
            </a:r>
          </a:p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而是敢行动，也会停手</a:t>
            </a:r>
          </a:p>
        </p:txBody>
      </p:sp>
      <p:sp>
        <p:nvSpPr>
          <p:cNvPr id="7" name="tier-0">
            <a:extLst xmlns:a="http://schemas.openxmlformats.org/drawingml/2006/main">
              <a:ext uri="{FF2B5EF4-FFF2-40B4-BE49-F238E27FC236}">
                <a16:creationId xmlns:a16="http://schemas.microsoft.com/office/drawing/2014/main" id="{D875CD38-B27F-431B-9077-F9A3CF0A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382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L0</a:t>
            </a:r>
          </a:p>
        </p:txBody>
      </p:sp>
      <p:sp>
        <p:nvSpPr>
          <p:cNvPr id="8" name="tier-1">
            <a:extLst xmlns:a="http://schemas.openxmlformats.org/drawingml/2006/main">
              <a:ext uri="{FF2B5EF4-FFF2-40B4-BE49-F238E27FC236}">
                <a16:creationId xmlns:a16="http://schemas.microsoft.com/office/drawing/2014/main" id="{441F7982-B324-4846-8A63-D738490A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526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  <p:sp>
        <p:nvSpPr>
          <p:cNvPr id="9" name="tier-2">
            <a:extLst xmlns:a="http://schemas.openxmlformats.org/drawingml/2006/main">
              <a:ext uri="{FF2B5EF4-FFF2-40B4-BE49-F238E27FC236}">
                <a16:creationId xmlns:a16="http://schemas.microsoft.com/office/drawing/2014/main" id="{996C86E7-F74D-4028-B717-0FA8541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L2</a:t>
            </a:r>
          </a:p>
        </p:txBody>
      </p:sp>
      <p:sp>
        <p:nvSpPr>
          <p:cNvPr id="10" name="tier-3">
            <a:extLst xmlns:a="http://schemas.openxmlformats.org/drawingml/2006/main">
              <a:ext uri="{FF2B5EF4-FFF2-40B4-BE49-F238E27FC236}">
                <a16:creationId xmlns:a16="http://schemas.microsoft.com/office/drawing/2014/main" id="{681C3364-0BF5-4780-AC8D-2F3EDB47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L3</a:t>
            </a:r>
          </a:p>
        </p:txBody>
      </p:sp>
      <p:sp>
        <p:nvSpPr>
          <p:cNvPr id="11" name="tier-desc">
            <a:extLst xmlns:a="http://schemas.openxmlformats.org/drawingml/2006/main">
              <a:ext uri="{FF2B5EF4-FFF2-40B4-BE49-F238E27FC236}">
                <a16:creationId xmlns:a16="http://schemas.microsoft.com/office/drawing/2014/main" id="{4621D731-63B0-446B-9E7B-9B2556C5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895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诊断</a:t>
            </a:r>
          </a:p>
        </p:txBody>
      </p:sp>
      <p:sp>
        <p:nvSpPr>
          <p:cNvPr id="12" name="tier-desc">
            <a:extLst xmlns:a="http://schemas.openxmlformats.org/drawingml/2006/main">
              <a:ext uri="{FF2B5EF4-FFF2-40B4-BE49-F238E27FC236}">
                <a16:creationId xmlns:a16="http://schemas.microsoft.com/office/drawing/2014/main" id="{1906F72C-D765-467B-A269-E704AC8F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09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建议</a:t>
            </a:r>
          </a:p>
        </p:txBody>
      </p:sp>
      <p:sp>
        <p:nvSpPr>
          <p:cNvPr id="13" name="tier-desc">
            <a:extLst xmlns:a="http://schemas.openxmlformats.org/drawingml/2006/main">
              <a:ext uri="{FF2B5EF4-FFF2-40B4-BE49-F238E27FC236}">
                <a16:creationId xmlns:a16="http://schemas.microsoft.com/office/drawing/2014/main" id="{728746F2-03EE-40AA-84FE-DEFBE028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24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审批后执行</a:t>
            </a:r>
          </a:p>
        </p:txBody>
      </p:sp>
      <p:sp>
        <p:nvSpPr>
          <p:cNvPr id="14" name="tier-desc">
            <a:extLst xmlns:a="http://schemas.openxmlformats.org/drawingml/2006/main">
              <a:ext uri="{FF2B5EF4-FFF2-40B4-BE49-F238E27FC236}">
                <a16:creationId xmlns:a16="http://schemas.microsoft.com/office/drawing/2014/main" id="{3DB18F52-1DEC-4A17-958C-EA486A17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38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只出方案</a:t>
            </a:r>
          </a:p>
        </p:txBody>
      </p:sp>
      <p:sp>
        <p:nvSpPr>
          <p:cNvPr id="1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14E0A7D8-6003-48DE-80EA-2C85A44F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4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可举证 · 可回放 · 可阻断</a:t>
            </a:r>
          </a:p>
        </p:txBody>
      </p:sp>
    </p:spTree>
    <p:extLst>
      <p:ext uri="{BB962C8B-B14F-4D97-AF65-F5344CB8AC3E}">
        <p14:creationId xmlns:p14="http://schemas.microsoft.com/office/powerpoint/2010/main" val="966698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844E2FB-6159-4684-89B1-1C549538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632A1-B031-4D87-B382-6A82A70B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银行不缺预警，缺的是自动处置的证据链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1C89BD-5555-4F7D-B258-4831573A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面向商业银行小微与对公贷后管理：误杀客户与放过风险，代价都不可逆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8E2570C-0345-492D-B848-476E28B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ain-label">
            <a:extLst xmlns:a="http://schemas.openxmlformats.org/drawingml/2006/main">
              <a:ext uri="{FF2B5EF4-FFF2-40B4-BE49-F238E27FC236}">
                <a16:creationId xmlns:a16="http://schemas.microsoft.com/office/drawing/2014/main" id="{BDA2F30C-A03D-44D9-AC2E-778B9C86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真实痛点</a:t>
            </a:r>
          </a:p>
        </p:txBody>
      </p:sp>
      <p:sp>
        <p:nvSpPr>
          <p:cNvPr id="6" name="pain-no">
            <a:extLst xmlns:a="http://schemas.openxmlformats.org/drawingml/2006/main">
              <a:ext uri="{FF2B5EF4-FFF2-40B4-BE49-F238E27FC236}">
                <a16:creationId xmlns:a16="http://schemas.microsoft.com/office/drawing/2014/main" id="{193E7353-04F5-4A95-A134-3578467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pain-title">
            <a:extLst xmlns:a="http://schemas.openxmlformats.org/drawingml/2006/main">
              <a:ext uri="{FF2B5EF4-FFF2-40B4-BE49-F238E27FC236}">
                <a16:creationId xmlns:a16="http://schemas.microsoft.com/office/drawing/2014/main" id="{05AAEF85-F88A-427C-B31B-DE88EC8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多源核查</a:t>
            </a:r>
          </a:p>
        </p:txBody>
      </p:sp>
      <p:sp>
        <p:nvSpPr>
          <p:cNvPr id="8" name="pain-body">
            <a:extLst xmlns:a="http://schemas.openxmlformats.org/drawingml/2006/main">
              <a:ext uri="{FF2B5EF4-FFF2-40B4-BE49-F238E27FC236}">
                <a16:creationId xmlns:a16="http://schemas.microsoft.com/office/drawing/2014/main" id="{E5993840-AF4D-4E3D-AD68-4425C10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工商、司法、征信、流水分散在不同系统</a:t>
            </a:r>
          </a:p>
        </p:txBody>
      </p:sp>
      <p:sp>
        <p:nvSpPr>
          <p:cNvPr id="9" name="pain-rule">
            <a:extLst xmlns:a="http://schemas.openxmlformats.org/drawingml/2006/main">
              <a:ext uri="{FF2B5EF4-FFF2-40B4-BE49-F238E27FC236}">
                <a16:creationId xmlns:a16="http://schemas.microsoft.com/office/drawing/2014/main" id="{14EC62C9-1B5E-4151-992E-606DAB8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10" name="pain-no">
            <a:extLst xmlns:a="http://schemas.openxmlformats.org/drawingml/2006/main">
              <a:ext uri="{FF2B5EF4-FFF2-40B4-BE49-F238E27FC236}">
                <a16:creationId xmlns:a16="http://schemas.microsoft.com/office/drawing/2014/main" id="{9DF7A9AA-1F82-47D8-A82A-19E40D28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pain-title">
            <a:extLst xmlns:a="http://schemas.openxmlformats.org/drawingml/2006/main">
              <a:ext uri="{FF2B5EF4-FFF2-40B4-BE49-F238E27FC236}">
                <a16:creationId xmlns:a16="http://schemas.microsoft.com/office/drawing/2014/main" id="{1CEC2B4F-6532-4208-AF99-39B3D377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误杀风险</a:t>
            </a:r>
          </a:p>
        </p:txBody>
      </p:sp>
      <p:sp>
        <p:nvSpPr>
          <p:cNvPr id="12" name="pain-body">
            <a:extLst xmlns:a="http://schemas.openxmlformats.org/drawingml/2006/main">
              <a:ext uri="{FF2B5EF4-FFF2-40B4-BE49-F238E27FC236}">
                <a16:creationId xmlns:a16="http://schemas.microsoft.com/office/drawing/2014/main" id="{FDDB3F01-091D-4233-B9E4-4BBE108D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同类信号在不同个案中，可能导向完全相反的结论</a:t>
            </a:r>
          </a:p>
        </p:txBody>
      </p:sp>
      <p:sp>
        <p:nvSpPr>
          <p:cNvPr id="13" name="pain-rule">
            <a:extLst xmlns:a="http://schemas.openxmlformats.org/drawingml/2006/main">
              <a:ext uri="{FF2B5EF4-FFF2-40B4-BE49-F238E27FC236}">
                <a16:creationId xmlns:a16="http://schemas.microsoft.com/office/drawing/2014/main" id="{DA502821-5729-4BA5-AA23-BF8C0275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14" name="pain-no">
            <a:extLst xmlns:a="http://schemas.openxmlformats.org/drawingml/2006/main">
              <a:ext uri="{FF2B5EF4-FFF2-40B4-BE49-F238E27FC236}">
                <a16:creationId xmlns:a16="http://schemas.microsoft.com/office/drawing/2014/main" id="{CDFFBC30-5856-455B-B9D3-093B1350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pain-title">
            <a:extLst xmlns:a="http://schemas.openxmlformats.org/drawingml/2006/main">
              <a:ext uri="{FF2B5EF4-FFF2-40B4-BE49-F238E27FC236}">
                <a16:creationId xmlns:a16="http://schemas.microsoft.com/office/drawing/2014/main" id="{BF52E784-2BE7-44B6-9DDC-B9C52CC1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监管问责</a:t>
            </a:r>
          </a:p>
        </p:txBody>
      </p:sp>
      <p:sp>
        <p:nvSpPr>
          <p:cNvPr id="16" name="pain-body">
            <a:extLst xmlns:a="http://schemas.openxmlformats.org/drawingml/2006/main">
              <a:ext uri="{FF2B5EF4-FFF2-40B4-BE49-F238E27FC236}">
                <a16:creationId xmlns:a16="http://schemas.microsoft.com/office/drawing/2014/main" id="{754DAF8B-8D6A-4FFC-85DA-867912FE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结论、依据、审批与执行必须可追溯、可复核</a:t>
            </a:r>
          </a:p>
        </p:txBody>
      </p:sp>
      <p:sp>
        <p:nvSpPr>
          <p:cNvPr id="17" name="pain-rule">
            <a:extLst xmlns:a="http://schemas.openxmlformats.org/drawingml/2006/main">
              <a:ext uri="{FF2B5EF4-FFF2-40B4-BE49-F238E27FC236}">
                <a16:creationId xmlns:a16="http://schemas.microsoft.com/office/drawing/2014/main" id="{FB4F4518-3290-419A-BA11-07D5B8A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18" name="tension-panel">
            <a:extLst xmlns:a="http://schemas.openxmlformats.org/drawingml/2006/main">
              <a:ext uri="{FF2B5EF4-FFF2-40B4-BE49-F238E27FC236}">
                <a16:creationId xmlns:a16="http://schemas.microsoft.com/office/drawing/2014/main" id="{DB8A9463-344F-45E4-B0E1-164A3AEC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638550" cy="37338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nsion-kicker">
            <a:extLst xmlns:a="http://schemas.openxmlformats.org/drawingml/2006/main">
              <a:ext uri="{FF2B5EF4-FFF2-40B4-BE49-F238E27FC236}">
                <a16:creationId xmlns:a16="http://schemas.microsoft.com/office/drawing/2014/main" id="{CD187900-8D9D-43DA-BF72-5AA6B804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核心洞察</a:t>
            </a:r>
          </a:p>
        </p:txBody>
      </p:sp>
      <p:sp>
        <p:nvSpPr>
          <p:cNvPr id="20" name="tension-a">
            <a:extLst xmlns:a="http://schemas.openxmlformats.org/drawingml/2006/main">
              <a:ext uri="{FF2B5EF4-FFF2-40B4-BE49-F238E27FC236}">
                <a16:creationId xmlns:a16="http://schemas.microsoft.com/office/drawing/2014/main" id="{543AD329-7519-4941-A8B4-DA107193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955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23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瓶颈不在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“发现风险”</a:t>
            </a:r>
          </a:p>
        </p:txBody>
      </p:sp>
      <p:sp>
        <p:nvSpPr>
          <p:cNvPr id="21" name="tension-mid">
            <a:extLst xmlns:a="http://schemas.openxmlformats.org/drawingml/2006/main">
              <a:ext uri="{FF2B5EF4-FFF2-40B4-BE49-F238E27FC236}">
                <a16:creationId xmlns:a16="http://schemas.microsoft.com/office/drawing/2014/main" id="{A8A16CFD-BB5B-4255-A35E-9C3B4ED8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BCC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BCC4"/>
                </a:solidFill>
                <a:latin typeface="PingFang SC"/>
                <a:ea typeface="PingFang SC"/>
                <a:cs typeface="PingFang SC"/>
              </a:rPr>
              <a:t>而在</a:t>
            </a:r>
          </a:p>
        </p:txBody>
      </p:sp>
      <p:sp>
        <p:nvSpPr>
          <p:cNvPr id="22" name="tension-b">
            <a:extLst xmlns:a="http://schemas.openxmlformats.org/drawingml/2006/main">
              <a:ext uri="{FF2B5EF4-FFF2-40B4-BE49-F238E27FC236}">
                <a16:creationId xmlns:a16="http://schemas.microsoft.com/office/drawing/2014/main" id="{C64E2FEF-A9FD-43F5-8E6F-4FED519D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“敢不敢动手”</a:t>
            </a:r>
          </a:p>
        </p:txBody>
      </p:sp>
      <p:sp>
        <p:nvSpPr>
          <p:cNvPr id="23" name="users">
            <a:extLst xmlns:a="http://schemas.openxmlformats.org/drawingml/2006/main">
              <a:ext uri="{FF2B5EF4-FFF2-40B4-BE49-F238E27FC236}">
                <a16:creationId xmlns:a16="http://schemas.microsoft.com/office/drawing/2014/main" id="{73682DFD-51EE-4CFF-BF4C-40C60090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目标用户：客户经理 · 风险经理 · 授信审批人 · 合规审计</a:t>
            </a:r>
          </a:p>
        </p:txBody>
      </p:sp>
      <p:sp>
        <p:nvSpPr>
          <p:cNvPr id="2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37AF6C9-B419-4473-89E0-D448A0F2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E76203-6756-4D9C-A311-08949A88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7403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1646928-EF80-4512-A1F5-A3002637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0E8AE-1174-4CEB-BEBA-D58C8ED0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把一条预警，变成可审计的处置闭环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5EE775-02EB-4F4B-A0A6-EA8BC53C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输入不只是一条信号，输出也不只是一份报告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89E694-4AA5-4D34-A06F-01327C7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io-in">
            <a:extLst xmlns:a="http://schemas.openxmlformats.org/drawingml/2006/main">
              <a:ext uri="{FF2B5EF4-FFF2-40B4-BE49-F238E27FC236}">
                <a16:creationId xmlns:a16="http://schemas.microsoft.com/office/drawing/2014/main" id="{696508F5-D6A5-4117-8087-60344333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6" name="io-proc">
            <a:extLst xmlns:a="http://schemas.openxmlformats.org/drawingml/2006/main">
              <a:ext uri="{FF2B5EF4-FFF2-40B4-BE49-F238E27FC236}">
                <a16:creationId xmlns:a16="http://schemas.microsoft.com/office/drawing/2014/main" id="{44602F8D-A99D-42CB-8FFF-1E50A231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PROCESS</a:t>
            </a:r>
          </a:p>
        </p:txBody>
      </p:sp>
      <p:sp>
        <p:nvSpPr>
          <p:cNvPr id="7" name="io-out">
            <a:extLst xmlns:a="http://schemas.openxmlformats.org/drawingml/2006/main">
              <a:ext uri="{FF2B5EF4-FFF2-40B4-BE49-F238E27FC236}">
                <a16:creationId xmlns:a16="http://schemas.microsoft.com/office/drawing/2014/main" id="{B4AB60C6-76B4-4CDA-A594-BD0B1A06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76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8" name="input-panel">
            <a:extLst xmlns:a="http://schemas.openxmlformats.org/drawingml/2006/main">
              <a:ext uri="{FF2B5EF4-FFF2-40B4-BE49-F238E27FC236}">
                <a16:creationId xmlns:a16="http://schemas.microsoft.com/office/drawing/2014/main" id="{2437A4BC-0C3E-48BC-A8B6-1908A03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7241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put-list">
            <a:extLst xmlns:a="http://schemas.openxmlformats.org/drawingml/2006/main">
              <a:ext uri="{FF2B5EF4-FFF2-40B4-BE49-F238E27FC236}">
                <a16:creationId xmlns:a16="http://schemas.microsoft.com/office/drawing/2014/main" id="{A8DAA955-16A9-4019-95E5-C655ECC4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19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预警事件</a:t>
            </a:r>
          </a:p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主体与授信敞口</a:t>
            </a:r>
          </a:p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工商 / 司法 / 征信 / 流水</a:t>
            </a:r>
          </a:p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政策条款与历史案例</a:t>
            </a:r>
          </a:p>
        </p:txBody>
      </p:sp>
      <p:sp>
        <p:nvSpPr>
          <p:cNvPr id="10" name="process-panel">
            <a:extLst xmlns:a="http://schemas.openxmlformats.org/drawingml/2006/main">
              <a:ext uri="{FF2B5EF4-FFF2-40B4-BE49-F238E27FC236}">
                <a16:creationId xmlns:a16="http://schemas.microsoft.com/office/drawing/2014/main" id="{267ECB37-DF32-4013-B8CB-62962566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7645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process-list">
            <a:extLst xmlns:a="http://schemas.openxmlformats.org/drawingml/2006/main">
              <a:ext uri="{FF2B5EF4-FFF2-40B4-BE49-F238E27FC236}">
                <a16:creationId xmlns:a16="http://schemas.microsoft.com/office/drawing/2014/main" id="{1EBBB841-D42A-4D81-B094-56F1398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信号聚合 → 尽调取证</a:t>
            </a:r>
          </a:p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风险定性 ⇄ 对抗质疑</a:t>
            </a:r>
          </a:p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四维闸门 → 分级处置</a:t>
            </a:r>
          </a:p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合规审计 → 经验回流</a:t>
            </a:r>
          </a:p>
        </p:txBody>
      </p:sp>
      <p:sp>
        <p:nvSpPr>
          <p:cNvPr id="12" name="output-panel">
            <a:extLst xmlns:a="http://schemas.openxmlformats.org/drawingml/2006/main">
              <a:ext uri="{FF2B5EF4-FFF2-40B4-BE49-F238E27FC236}">
                <a16:creationId xmlns:a16="http://schemas.microsoft.com/office/drawing/2014/main" id="{9885F5C7-00D9-4927-BE61-A74360E9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32575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utput-list">
            <a:extLst xmlns:a="http://schemas.openxmlformats.org/drawingml/2006/main">
              <a:ext uri="{FF2B5EF4-FFF2-40B4-BE49-F238E27FC236}">
                <a16:creationId xmlns:a16="http://schemas.microsoft.com/office/drawing/2014/main" id="{2DD0C8BD-44D7-4941-88FF-6C2D4E85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1935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处置意见书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证据账本与哈希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审批 / 执行 / 回滚记录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全链路 Trace 与审计报告</a:t>
            </a:r>
          </a:p>
        </p:txBody>
      </p:sp>
      <p:sp>
        <p:nvSpPr>
          <p:cNvPr id="14" name="replicate-claim">
            <a:extLst xmlns:a="http://schemas.openxmlformats.org/drawingml/2006/main">
              <a:ext uri="{FF2B5EF4-FFF2-40B4-BE49-F238E27FC236}">
                <a16:creationId xmlns:a16="http://schemas.microsoft.com/office/drawing/2014/main" id="{FBAC7FFA-7C25-4668-8099-16FB75D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可复制的不是信贷规则，而是“权限拓扑 + Skill 契约 + 证据账本 + 执行闸门”</a:t>
            </a:r>
          </a:p>
        </p:txBody>
      </p:sp>
      <p:sp>
        <p:nvSpPr>
          <p:cNvPr id="15" name="replicate-list">
            <a:extLst xmlns:a="http://schemas.openxmlformats.org/drawingml/2006/main">
              <a:ext uri="{FF2B5EF4-FFF2-40B4-BE49-F238E27FC236}">
                <a16:creationId xmlns:a16="http://schemas.microsoft.com/office/drawing/2014/main" id="{4B228088-2380-4C70-BDD2-F0E19794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可平移：保险核赔 · 供应链金融 · 反洗钱调查 · 企业合规调查</a:t>
            </a:r>
          </a:p>
        </p:txBody>
      </p:sp>
      <p:sp>
        <p:nvSpPr>
          <p:cNvPr id="1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7837BEB-B3B2-4464-ACD0-4CBCDE30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AC91480-5031-4BAA-AEFD-F80F5745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3942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FBF875F-C5C4-4B37-B786-D9613E61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01E804-59A3-4B75-BE48-92BB4824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判断、执行、审计被拆成可验证的控制面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835F3E-8087-426E-B5D5-8E74851B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LLM 只做阶段内判断；流程推进、权限与执行边界由确定性组件接管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5EF1C6E-9B72-4A36-A029-F317D8BF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rch-l1">
            <a:extLst xmlns:a="http://schemas.openxmlformats.org/drawingml/2006/main">
              <a:ext uri="{FF2B5EF4-FFF2-40B4-BE49-F238E27FC236}">
                <a16:creationId xmlns:a16="http://schemas.microsoft.com/office/drawing/2014/main" id="{343C2779-E033-4BE7-B5DD-FDD0554C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业务入口</a:t>
            </a:r>
          </a:p>
        </p:txBody>
      </p:sp>
      <p:sp>
        <p:nvSpPr>
          <p:cNvPr id="6" name="arch-input">
            <a:extLst xmlns:a="http://schemas.openxmlformats.org/drawingml/2006/main">
              <a:ext uri="{FF2B5EF4-FFF2-40B4-BE49-F238E27FC236}">
                <a16:creationId xmlns:a16="http://schemas.microsoft.com/office/drawing/2014/main" id="{14A60C77-9A82-4210-AC7D-1001D64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66900" cy="3143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input-text">
            <a:extLst xmlns:a="http://schemas.openxmlformats.org/drawingml/2006/main">
              <a:ext uri="{FF2B5EF4-FFF2-40B4-BE49-F238E27FC236}">
                <a16:creationId xmlns:a16="http://schemas.microsoft.com/office/drawing/2014/main" id="{9740D67A-D28F-4BD9-BC38-49CC8A3F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3144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预警系统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授信核心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外部数据源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审批人</a:t>
            </a:r>
          </a:p>
        </p:txBody>
      </p:sp>
      <p:sp>
        <p:nvSpPr>
          <p:cNvPr id="8" name="arch-l2">
            <a:extLst xmlns:a="http://schemas.openxmlformats.org/drawingml/2006/main">
              <a:ext uri="{FF2B5EF4-FFF2-40B4-BE49-F238E27FC236}">
                <a16:creationId xmlns:a16="http://schemas.microsoft.com/office/drawing/2014/main" id="{D731454C-7D8E-405D-8AAD-0663C53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AgentTeams 协作面</a:t>
            </a:r>
          </a:p>
        </p:txBody>
      </p:sp>
      <p:sp>
        <p:nvSpPr>
          <p:cNvPr id="9" name="arch-agent">
            <a:extLst xmlns:a="http://schemas.openxmlformats.org/drawingml/2006/main">
              <a:ext uri="{FF2B5EF4-FFF2-40B4-BE49-F238E27FC236}">
                <a16:creationId xmlns:a16="http://schemas.microsoft.com/office/drawing/2014/main" id="{34129FD2-2152-408C-89C9-CE9456B5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arch-manager">
            <a:extLst xmlns:a="http://schemas.openxmlformats.org/drawingml/2006/main">
              <a:ext uri="{FF2B5EF4-FFF2-40B4-BE49-F238E27FC236}">
                <a16:creationId xmlns:a16="http://schemas.microsoft.com/office/drawing/2014/main" id="{405FE86B-A25D-4485-B7F6-D741F815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Manager / Case Room</a:t>
            </a:r>
          </a:p>
        </p:txBody>
      </p:sp>
      <p:sp>
        <p:nvSpPr>
          <p:cNvPr id="11" name="arch-inner-rule">
            <a:extLst xmlns:a="http://schemas.openxmlformats.org/drawingml/2006/main">
              <a:ext uri="{FF2B5EF4-FFF2-40B4-BE49-F238E27FC236}">
                <a16:creationId xmlns:a16="http://schemas.microsoft.com/office/drawing/2014/main" id="{D7AF3EC2-C1F9-4A5E-B00C-B30EF816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-worker-top">
            <a:extLst xmlns:a="http://schemas.openxmlformats.org/drawingml/2006/main">
              <a:ext uri="{FF2B5EF4-FFF2-40B4-BE49-F238E27FC236}">
                <a16:creationId xmlns:a16="http://schemas.microsoft.com/office/drawing/2014/main" id="{C102C174-2627-40D6-81AD-C750F5A8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3525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rch-worker-text">
            <a:extLst xmlns:a="http://schemas.openxmlformats.org/drawingml/2006/main">
              <a:ext uri="{FF2B5EF4-FFF2-40B4-BE49-F238E27FC236}">
                <a16:creationId xmlns:a16="http://schemas.microsoft.com/office/drawing/2014/main" id="{149242EE-B002-4F04-9B56-CC61B097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信号聚合</a:t>
            </a:r>
          </a:p>
        </p:txBody>
      </p:sp>
      <p:sp>
        <p:nvSpPr>
          <p:cNvPr id="14" name="arch-worker-bottom">
            <a:extLst xmlns:a="http://schemas.openxmlformats.org/drawingml/2006/main">
              <a:ext uri="{FF2B5EF4-FFF2-40B4-BE49-F238E27FC236}">
                <a16:creationId xmlns:a16="http://schemas.microsoft.com/office/drawing/2014/main" id="{25366950-D8C1-488E-9160-221084BC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05250"/>
            <a:ext cx="13525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15" name="arch-worker-text2">
            <a:extLst xmlns:a="http://schemas.openxmlformats.org/drawingml/2006/main">
              <a:ext uri="{FF2B5EF4-FFF2-40B4-BE49-F238E27FC236}">
                <a16:creationId xmlns:a16="http://schemas.microsoft.com/office/drawing/2014/main" id="{F0E4338E-E620-43CD-AFE1-FE6FCF75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14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执行闸门</a:t>
            </a:r>
          </a:p>
        </p:txBody>
      </p:sp>
      <p:sp>
        <p:nvSpPr>
          <p:cNvPr id="16" name="arch-worker-top">
            <a:extLst xmlns:a="http://schemas.openxmlformats.org/drawingml/2006/main">
              <a:ext uri="{FF2B5EF4-FFF2-40B4-BE49-F238E27FC236}">
                <a16:creationId xmlns:a16="http://schemas.microsoft.com/office/drawing/2014/main" id="{6F34A4C9-6875-4D06-B33D-5355FD30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13525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rch-worker-text">
            <a:extLst xmlns:a="http://schemas.openxmlformats.org/drawingml/2006/main">
              <a:ext uri="{FF2B5EF4-FFF2-40B4-BE49-F238E27FC236}">
                <a16:creationId xmlns:a16="http://schemas.microsoft.com/office/drawing/2014/main" id="{0A0EDCC3-DF34-434E-B6E8-C3F4D8DD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623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尽调取证</a:t>
            </a:r>
          </a:p>
        </p:txBody>
      </p:sp>
      <p:sp>
        <p:nvSpPr>
          <p:cNvPr id="18" name="arch-worker-bottom">
            <a:extLst xmlns:a="http://schemas.openxmlformats.org/drawingml/2006/main">
              <a:ext uri="{FF2B5EF4-FFF2-40B4-BE49-F238E27FC236}">
                <a16:creationId xmlns:a16="http://schemas.microsoft.com/office/drawing/2014/main" id="{5DC15C28-1FFD-485E-89C4-7E879BE4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05250"/>
            <a:ext cx="13525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arch-worker-text2">
            <a:extLst xmlns:a="http://schemas.openxmlformats.org/drawingml/2006/main">
              <a:ext uri="{FF2B5EF4-FFF2-40B4-BE49-F238E27FC236}">
                <a16:creationId xmlns:a16="http://schemas.microsoft.com/office/drawing/2014/main" id="{655D0DC3-F708-4826-86B4-2F21E941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处置执行</a:t>
            </a:r>
          </a:p>
        </p:txBody>
      </p:sp>
      <p:sp>
        <p:nvSpPr>
          <p:cNvPr id="20" name="arch-worker-top">
            <a:extLst xmlns:a="http://schemas.openxmlformats.org/drawingml/2006/main">
              <a:ext uri="{FF2B5EF4-FFF2-40B4-BE49-F238E27FC236}">
                <a16:creationId xmlns:a16="http://schemas.microsoft.com/office/drawing/2014/main" id="{981A0BA4-A9AA-461D-AF9B-2481BFBD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13525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arch-worker-text">
            <a:extLst xmlns:a="http://schemas.openxmlformats.org/drawingml/2006/main">
              <a:ext uri="{FF2B5EF4-FFF2-40B4-BE49-F238E27FC236}">
                <a16:creationId xmlns:a16="http://schemas.microsoft.com/office/drawing/2014/main" id="{E193F7FC-04E7-48C6-BDF6-08D378CB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定性 / 质疑</a:t>
            </a:r>
          </a:p>
        </p:txBody>
      </p:sp>
      <p:sp>
        <p:nvSpPr>
          <p:cNvPr id="22" name="arch-worker-bottom">
            <a:extLst xmlns:a="http://schemas.openxmlformats.org/drawingml/2006/main">
              <a:ext uri="{FF2B5EF4-FFF2-40B4-BE49-F238E27FC236}">
                <a16:creationId xmlns:a16="http://schemas.microsoft.com/office/drawing/2014/main" id="{33A83AF7-B6B5-4BC7-9F5C-6F299EB2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13525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arch-worker-text2">
            <a:extLst xmlns:a="http://schemas.openxmlformats.org/drawingml/2006/main">
              <a:ext uri="{FF2B5EF4-FFF2-40B4-BE49-F238E27FC236}">
                <a16:creationId xmlns:a16="http://schemas.microsoft.com/office/drawing/2014/main" id="{C7FC4939-67E1-47A2-86E2-C9D42DEC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合规审计</a:t>
            </a:r>
          </a:p>
        </p:txBody>
      </p:sp>
      <p:sp>
        <p:nvSpPr>
          <p:cNvPr id="24" name="arch-l3">
            <a:extLst xmlns:a="http://schemas.openxmlformats.org/drawingml/2006/main">
              <a:ext uri="{FF2B5EF4-FFF2-40B4-BE49-F238E27FC236}">
                <a16:creationId xmlns:a16="http://schemas.microsoft.com/office/drawing/2014/main" id="{61C882C1-A1C8-4B60-A1F7-01740785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能力与治理底座</a:t>
            </a:r>
          </a:p>
        </p:txBody>
      </p:sp>
      <p:sp>
        <p:nvSpPr>
          <p:cNvPr id="25" name="arch-platform">
            <a:extLst xmlns:a="http://schemas.openxmlformats.org/drawingml/2006/main">
              <a:ext uri="{FF2B5EF4-FFF2-40B4-BE49-F238E27FC236}">
                <a16:creationId xmlns:a16="http://schemas.microsoft.com/office/drawing/2014/main" id="{ED4CB8CD-6C6E-486E-BDCB-0691F64C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-platform-text">
            <a:extLst xmlns:a="http://schemas.openxmlformats.org/drawingml/2006/main">
              <a:ext uri="{FF2B5EF4-FFF2-40B4-BE49-F238E27FC236}">
                <a16:creationId xmlns:a16="http://schemas.microsoft.com/office/drawing/2014/main" id="{A02594FB-45AD-4676-9AE3-346144C2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628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 Skills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MCP Servers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政策 / 案例 RAG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Evidence Ledger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SOP 路由表 v1.4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OpenTelemetry Trace</a:t>
            </a:r>
          </a:p>
        </p:txBody>
      </p:sp>
      <p:sp>
        <p:nvSpPr>
          <p:cNvPr id="27" name="arch-context">
            <a:extLst xmlns:a="http://schemas.openxmlformats.org/drawingml/2006/main">
              <a:ext uri="{FF2B5EF4-FFF2-40B4-BE49-F238E27FC236}">
                <a16:creationId xmlns:a16="http://schemas.microsoft.com/office/drawing/2014/main" id="{05721B0D-07E1-4283-842F-4143C09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共享状态只传结构化摘要；原始附件留在对象存储，证据以 evidence_id 引用</a:t>
            </a:r>
          </a:p>
        </p:txBody>
      </p:sp>
      <p:sp>
        <p:nvSpPr>
          <p:cNvPr id="28" name="arch-trace">
            <a:extLst xmlns:a="http://schemas.openxmlformats.org/drawingml/2006/main">
              <a:ext uri="{FF2B5EF4-FFF2-40B4-BE49-F238E27FC236}">
                <a16:creationId xmlns:a16="http://schemas.microsoft.com/office/drawing/2014/main" id="{5D5CEA55-0BFE-4FEC-958B-053B5F1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→ 每次路由、取证、判断、审批与执行都落 Span，可回放“为什么走了这条分支”</a:t>
            </a:r>
          </a:p>
        </p:txBody>
      </p:sp>
      <p:sp>
        <p:nvSpPr>
          <p:cNvPr id="2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A02D673-EBAC-454D-A857-405412B8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FBC38C4-98B4-4D12-A57F-17A4B626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4575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6004F72-5C73-4721-BF49-CDA1AB42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2DC422-054A-4412-82F2-2D757FB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Agent 拓扑可推导：6 = 5 类权限 + 1 个对立目标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73C0B6-65FC-47E1-81EE-5EE0A0BC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Agent 边界 = 工具权限边界；目标函数对立时，再拆分上下文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9B7D72E-B9CC-4491-B8B0-79EAE43D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plit-label">
            <a:extLst xmlns:a="http://schemas.openxmlformats.org/drawingml/2006/main">
              <a:ext uri="{FF2B5EF4-FFF2-40B4-BE49-F238E27FC236}">
                <a16:creationId xmlns:a16="http://schemas.microsoft.com/office/drawing/2014/main" id="{3ACA02E2-3242-4FAA-9278-CA8BC3C1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必须拆</a:t>
            </a:r>
          </a:p>
        </p:txBody>
      </p:sp>
      <p:sp>
        <p:nvSpPr>
          <p:cNvPr id="6" name="split-rule">
            <a:extLst xmlns:a="http://schemas.openxmlformats.org/drawingml/2006/main">
              <a:ext uri="{FF2B5EF4-FFF2-40B4-BE49-F238E27FC236}">
                <a16:creationId xmlns:a16="http://schemas.microsoft.com/office/drawing/2014/main" id="{47DADCAB-A7EA-4091-AC4B-55CC4FAE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38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权限合并会越权，或目标函数相互矛盾</a:t>
            </a:r>
          </a:p>
        </p:txBody>
      </p:sp>
      <p:sp>
        <p:nvSpPr>
          <p:cNvPr id="7" name="merge-label">
            <a:extLst xmlns:a="http://schemas.openxmlformats.org/drawingml/2006/main">
              <a:ext uri="{FF2B5EF4-FFF2-40B4-BE49-F238E27FC236}">
                <a16:creationId xmlns:a16="http://schemas.microsoft.com/office/drawing/2014/main" id="{04D8C38E-0AAB-4650-9105-24AD0C06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573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必须合</a:t>
            </a:r>
          </a:p>
        </p:txBody>
      </p:sp>
      <p:sp>
        <p:nvSpPr>
          <p:cNvPr id="8" name="merge-rule">
            <a:extLst xmlns:a="http://schemas.openxmlformats.org/drawingml/2006/main">
              <a:ext uri="{FF2B5EF4-FFF2-40B4-BE49-F238E27FC236}">
                <a16:creationId xmlns:a16="http://schemas.microsoft.com/office/drawing/2014/main" id="{0F2602A7-0C76-4CD4-884D-902C398C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38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权限集、目标、失败策略完全相同</a:t>
            </a:r>
          </a:p>
        </p:txBody>
      </p:sp>
      <p:sp>
        <p:nvSpPr>
          <p:cNvPr id="9" name="agent-card">
            <a:extLst xmlns:a="http://schemas.openxmlformats.org/drawingml/2006/main">
              <a:ext uri="{FF2B5EF4-FFF2-40B4-BE49-F238E27FC236}">
                <a16:creationId xmlns:a16="http://schemas.microsoft.com/office/drawing/2014/main" id="{9045493E-1567-4ED4-A93E-AB7DD831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4861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agent-name">
            <a:extLst xmlns:a="http://schemas.openxmlformats.org/drawingml/2006/main">
              <a:ext uri="{FF2B5EF4-FFF2-40B4-BE49-F238E27FC236}">
                <a16:creationId xmlns:a16="http://schemas.microsoft.com/office/drawing/2014/main" id="{75CE3957-7AC5-48F4-902A-6BCE9713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SignalHub</a:t>
            </a:r>
          </a:p>
        </p:txBody>
      </p:sp>
      <p:sp>
        <p:nvSpPr>
          <p:cNvPr id="11" name="agent-perm">
            <a:extLst xmlns:a="http://schemas.openxmlformats.org/drawingml/2006/main">
              <a:ext uri="{FF2B5EF4-FFF2-40B4-BE49-F238E27FC236}">
                <a16:creationId xmlns:a16="http://schemas.microsoft.com/office/drawing/2014/main" id="{4AD7289E-3F4A-4205-90BE-B26E1882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内部只读聚合</a:t>
            </a:r>
          </a:p>
        </p:txBody>
      </p:sp>
      <p:sp>
        <p:nvSpPr>
          <p:cNvPr id="12" name="agent-boundary">
            <a:extLst xmlns:a="http://schemas.openxmlformats.org/drawingml/2006/main">
              <a:ext uri="{FF2B5EF4-FFF2-40B4-BE49-F238E27FC236}">
                <a16:creationId xmlns:a16="http://schemas.microsoft.com/office/drawing/2014/main" id="{A0A3E0EC-8943-4826-905F-BE36A459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不下风险结论</a:t>
            </a:r>
          </a:p>
        </p:txBody>
      </p:sp>
      <p:sp>
        <p:nvSpPr>
          <p:cNvPr id="13" name="agent-card">
            <a:extLst xmlns:a="http://schemas.openxmlformats.org/drawingml/2006/main">
              <a:ext uri="{FF2B5EF4-FFF2-40B4-BE49-F238E27FC236}">
                <a16:creationId xmlns:a16="http://schemas.microsoft.com/office/drawing/2014/main" id="{F00A5320-5167-4EC3-A2B6-CF42935C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34861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gent-name">
            <a:extLst xmlns:a="http://schemas.openxmlformats.org/drawingml/2006/main">
              <a:ext uri="{FF2B5EF4-FFF2-40B4-BE49-F238E27FC236}">
                <a16:creationId xmlns:a16="http://schemas.microsoft.com/office/drawing/2014/main" id="{17BFBB76-1796-488C-A754-E29CFDF8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DueDiligence</a:t>
            </a:r>
          </a:p>
        </p:txBody>
      </p:sp>
      <p:sp>
        <p:nvSpPr>
          <p:cNvPr id="15" name="agent-perm">
            <a:extLst xmlns:a="http://schemas.openxmlformats.org/drawingml/2006/main">
              <a:ext uri="{FF2B5EF4-FFF2-40B4-BE49-F238E27FC236}">
                <a16:creationId xmlns:a16="http://schemas.microsoft.com/office/drawing/2014/main" id="{D8C927C6-7E9B-4035-9686-7CA5E272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唯一 PII 触点</a:t>
            </a:r>
          </a:p>
        </p:txBody>
      </p:sp>
      <p:sp>
        <p:nvSpPr>
          <p:cNvPr id="16" name="agent-boundary">
            <a:extLst xmlns:a="http://schemas.openxmlformats.org/drawingml/2006/main">
              <a:ext uri="{FF2B5EF4-FFF2-40B4-BE49-F238E27FC236}">
                <a16:creationId xmlns:a16="http://schemas.microsoft.com/office/drawing/2014/main" id="{B27ABECC-5364-45B7-ACD8-84E545CC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只摆事实</a:t>
            </a:r>
          </a:p>
        </p:txBody>
      </p:sp>
      <p:sp>
        <p:nvSpPr>
          <p:cNvPr id="17" name="agent-card">
            <a:extLst xmlns:a="http://schemas.openxmlformats.org/drawingml/2006/main">
              <a:ext uri="{FF2B5EF4-FFF2-40B4-BE49-F238E27FC236}">
                <a16:creationId xmlns:a16="http://schemas.microsoft.com/office/drawing/2014/main" id="{FFE2B4B1-3DB6-4FEE-A6CC-F9DDAE66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4861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agent-name">
            <a:extLst xmlns:a="http://schemas.openxmlformats.org/drawingml/2006/main">
              <a:ext uri="{FF2B5EF4-FFF2-40B4-BE49-F238E27FC236}">
                <a16:creationId xmlns:a16="http://schemas.microsoft.com/office/drawing/2014/main" id="{A781A9A3-83C3-4E1C-A79E-508A028E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RiskAnalyst</a:t>
            </a:r>
          </a:p>
        </p:txBody>
      </p:sp>
      <p:sp>
        <p:nvSpPr>
          <p:cNvPr id="19" name="agent-perm">
            <a:extLst xmlns:a="http://schemas.openxmlformats.org/drawingml/2006/main">
              <a:ext uri="{FF2B5EF4-FFF2-40B4-BE49-F238E27FC236}">
                <a16:creationId xmlns:a16="http://schemas.microsoft.com/office/drawing/2014/main" id="{4A8721B7-C73D-480E-9A79-006B715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零工具纯推理</a:t>
            </a:r>
          </a:p>
        </p:txBody>
      </p:sp>
      <p:sp>
        <p:nvSpPr>
          <p:cNvPr id="20" name="agent-boundary">
            <a:extLst xmlns:a="http://schemas.openxmlformats.org/drawingml/2006/main">
              <a:ext uri="{FF2B5EF4-FFF2-40B4-BE49-F238E27FC236}">
                <a16:creationId xmlns:a16="http://schemas.microsoft.com/office/drawing/2014/main" id="{5005E91D-65EA-4D50-8912-5937F0C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求证成立</a:t>
            </a:r>
          </a:p>
        </p:txBody>
      </p:sp>
      <p:sp>
        <p:nvSpPr>
          <p:cNvPr id="21" name="agent-card">
            <a:extLst xmlns:a="http://schemas.openxmlformats.org/drawingml/2006/main">
              <a:ext uri="{FF2B5EF4-FFF2-40B4-BE49-F238E27FC236}">
                <a16:creationId xmlns:a16="http://schemas.microsoft.com/office/drawing/2014/main" id="{EB8FD79C-AF08-4727-859A-32F38E68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4861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agent-name">
            <a:extLst xmlns:a="http://schemas.openxmlformats.org/drawingml/2006/main">
              <a:ext uri="{FF2B5EF4-FFF2-40B4-BE49-F238E27FC236}">
                <a16:creationId xmlns:a16="http://schemas.microsoft.com/office/drawing/2014/main" id="{A91459A1-65AD-4BE3-94E6-0E305DBA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DevilsAdvocate</a:t>
            </a:r>
          </a:p>
        </p:txBody>
      </p:sp>
      <p:sp>
        <p:nvSpPr>
          <p:cNvPr id="23" name="agent-perm">
            <a:extLst xmlns:a="http://schemas.openxmlformats.org/drawingml/2006/main">
              <a:ext uri="{FF2B5EF4-FFF2-40B4-BE49-F238E27FC236}">
                <a16:creationId xmlns:a16="http://schemas.microsoft.com/office/drawing/2014/main" id="{D903E0D3-FD66-4D99-894A-A017FFE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零工具纯推理</a:t>
            </a:r>
          </a:p>
        </p:txBody>
      </p:sp>
      <p:sp>
        <p:nvSpPr>
          <p:cNvPr id="24" name="agent-boundary">
            <a:extLst xmlns:a="http://schemas.openxmlformats.org/drawingml/2006/main">
              <a:ext uri="{FF2B5EF4-FFF2-40B4-BE49-F238E27FC236}">
                <a16:creationId xmlns:a16="http://schemas.microsoft.com/office/drawing/2014/main" id="{40A59167-7406-4181-BFCA-3EA99C4D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求证不成立</a:t>
            </a:r>
          </a:p>
        </p:txBody>
      </p:sp>
      <p:sp>
        <p:nvSpPr>
          <p:cNvPr id="25" name="agent-card">
            <a:extLst xmlns:a="http://schemas.openxmlformats.org/drawingml/2006/main">
              <a:ext uri="{FF2B5EF4-FFF2-40B4-BE49-F238E27FC236}">
                <a16:creationId xmlns:a16="http://schemas.microsoft.com/office/drawing/2014/main" id="{D61F3E51-C420-4163-93CE-CAE4B85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29050"/>
            <a:ext cx="34861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26" name="agent-name">
            <a:extLst xmlns:a="http://schemas.openxmlformats.org/drawingml/2006/main">
              <a:ext uri="{FF2B5EF4-FFF2-40B4-BE49-F238E27FC236}">
                <a16:creationId xmlns:a16="http://schemas.microsoft.com/office/drawing/2014/main" id="{C67D6F5A-E425-4100-981E-09022469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Executor</a:t>
            </a:r>
          </a:p>
        </p:txBody>
      </p:sp>
      <p:sp>
        <p:nvSpPr>
          <p:cNvPr id="27" name="agent-perm">
            <a:extLst xmlns:a="http://schemas.openxmlformats.org/drawingml/2006/main">
              <a:ext uri="{FF2B5EF4-FFF2-40B4-BE49-F238E27FC236}">
                <a16:creationId xmlns:a16="http://schemas.microsoft.com/office/drawing/2014/main" id="{98352D03-437D-45F1-BE73-D5976C7C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81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唯一写触点</a:t>
            </a:r>
          </a:p>
        </p:txBody>
      </p:sp>
      <p:sp>
        <p:nvSpPr>
          <p:cNvPr id="28" name="agent-boundary">
            <a:extLst xmlns:a="http://schemas.openxmlformats.org/drawingml/2006/main">
              <a:ext uri="{FF2B5EF4-FFF2-40B4-BE49-F238E27FC236}">
                <a16:creationId xmlns:a16="http://schemas.microsoft.com/office/drawing/2014/main" id="{7DB893DF-45E3-4B8E-A33F-D239714A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05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零自主决策</a:t>
            </a:r>
          </a:p>
        </p:txBody>
      </p:sp>
      <p:sp>
        <p:nvSpPr>
          <p:cNvPr id="29" name="agent-card">
            <a:extLst xmlns:a="http://schemas.openxmlformats.org/drawingml/2006/main">
              <a:ext uri="{FF2B5EF4-FFF2-40B4-BE49-F238E27FC236}">
                <a16:creationId xmlns:a16="http://schemas.microsoft.com/office/drawing/2014/main" id="{0171CFDA-5726-442A-A5B6-4C5014A1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34861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agent-name">
            <a:extLst xmlns:a="http://schemas.openxmlformats.org/drawingml/2006/main">
              <a:ext uri="{FF2B5EF4-FFF2-40B4-BE49-F238E27FC236}">
                <a16:creationId xmlns:a16="http://schemas.microsoft.com/office/drawing/2014/main" id="{EDF3D05C-490F-4237-9CF2-98FAB0F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Auditor</a:t>
            </a:r>
          </a:p>
        </p:txBody>
      </p:sp>
      <p:sp>
        <p:nvSpPr>
          <p:cNvPr id="31" name="agent-perm">
            <a:extLst xmlns:a="http://schemas.openxmlformats.org/drawingml/2006/main">
              <a:ext uri="{FF2B5EF4-FFF2-40B4-BE49-F238E27FC236}">
                <a16:creationId xmlns:a16="http://schemas.microsoft.com/office/drawing/2014/main" id="{FADAF874-C29B-4A57-A97B-0E9D8BD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Trace 读 + 知识写</a:t>
            </a:r>
          </a:p>
        </p:txBody>
      </p:sp>
      <p:sp>
        <p:nvSpPr>
          <p:cNvPr id="32" name="agent-boundary">
            <a:extLst xmlns:a="http://schemas.openxmlformats.org/drawingml/2006/main">
              <a:ext uri="{FF2B5EF4-FFF2-40B4-BE49-F238E27FC236}">
                <a16:creationId xmlns:a16="http://schemas.microsoft.com/office/drawing/2014/main" id="{1700E72C-C5AD-4B52-9D46-CF4F79E7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只报告不修复</a:t>
            </a:r>
          </a:p>
        </p:txBody>
      </p:sp>
      <p:sp>
        <p:nvSpPr>
          <p:cNvPr id="33" name="agent-claim">
            <a:extLst xmlns:a="http://schemas.openxmlformats.org/drawingml/2006/main">
              <a:ext uri="{FF2B5EF4-FFF2-40B4-BE49-F238E27FC236}">
                <a16:creationId xmlns:a16="http://schemas.microsoft.com/office/drawing/2014/main" id="{790C5014-4A69-4ACE-8C3C-C9EB775F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关键制衡：定性官与质疑官权限完全相同、上下文独立、模型族异构</a:t>
            </a:r>
          </a:p>
        </p:txBody>
      </p:sp>
      <p:sp>
        <p:nvSpPr>
          <p:cNvPr id="34" name="agent-reason">
            <a:extLst xmlns:a="http://schemas.openxmlformats.org/drawingml/2006/main">
              <a:ext uri="{FF2B5EF4-FFF2-40B4-BE49-F238E27FC236}">
                <a16:creationId xmlns:a16="http://schemas.microsoft.com/office/drawing/2014/main" id="{69507F3D-1BD3-4946-A932-50E8ED16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合并会自洽坍缩；继续拆分只增加消息跳数与 Token，不增加控制力</a:t>
            </a:r>
          </a:p>
        </p:txBody>
      </p:sp>
      <p:sp>
        <p:nvSpPr>
          <p:cNvPr id="3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2CE382B-83D9-4746-9620-28B094E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0CB0CDE-C5DD-4477-976A-E870025A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1949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390ED82-87BC-4EBA-9FE8-8C7335DB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53220C-BB4E-4868-BFDF-208FC3D4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协作流程可回放，不是 Agent 自由聊天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C269E8-866C-45B3-8A2F-F729526F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五阶段主链路只有一条回退边；重试耗尽、审批拒绝、模型失败都明确收口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4E96F7-DD80-4516-94C2-BF9D0C5C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flow-link">
            <a:extLst xmlns:a="http://schemas.openxmlformats.org/drawingml/2006/main">
              <a:ext uri="{FF2B5EF4-FFF2-40B4-BE49-F238E27FC236}">
                <a16:creationId xmlns:a16="http://schemas.microsoft.com/office/drawing/2014/main" id="{D65F2EA6-4D4C-4E31-8775-E55C6E9C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051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link">
            <a:extLst xmlns:a="http://schemas.openxmlformats.org/drawingml/2006/main">
              <a:ext uri="{FF2B5EF4-FFF2-40B4-BE49-F238E27FC236}">
                <a16:creationId xmlns:a16="http://schemas.microsoft.com/office/drawing/2014/main" id="{8194B154-6B62-4D30-A74D-645E8F24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051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link">
            <a:extLst xmlns:a="http://schemas.openxmlformats.org/drawingml/2006/main">
              <a:ext uri="{FF2B5EF4-FFF2-40B4-BE49-F238E27FC236}">
                <a16:creationId xmlns:a16="http://schemas.microsoft.com/office/drawing/2014/main" id="{ED751EFC-CAA5-47AF-B992-009CEBC0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link">
            <a:extLst xmlns:a="http://schemas.openxmlformats.org/drawingml/2006/main">
              <a:ext uri="{FF2B5EF4-FFF2-40B4-BE49-F238E27FC236}">
                <a16:creationId xmlns:a16="http://schemas.microsoft.com/office/drawing/2014/main" id="{F538529B-412A-4B3C-9887-6AA5ADC8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71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node">
            <a:extLst xmlns:a="http://schemas.openxmlformats.org/drawingml/2006/main">
              <a:ext uri="{FF2B5EF4-FFF2-40B4-BE49-F238E27FC236}">
                <a16:creationId xmlns:a16="http://schemas.microsoft.com/office/drawing/2014/main" id="{E035DEBD-85C6-4043-920B-D4C9C411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114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12D46FD-FFCE-4269-8DA1-612882F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INTAKE</a:t>
            </a:r>
          </a:p>
        </p:txBody>
      </p:sp>
      <p:sp>
        <p:nvSpPr>
          <p:cNvPr id="11" name="stage-sub">
            <a:extLst xmlns:a="http://schemas.openxmlformats.org/drawingml/2006/main">
              <a:ext uri="{FF2B5EF4-FFF2-40B4-BE49-F238E27FC236}">
                <a16:creationId xmlns:a16="http://schemas.microsoft.com/office/drawing/2014/main" id="{8858F19A-753F-4748-B11C-E36FE3C0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信号归并</a:t>
            </a:r>
          </a:p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敞口测绘</a:t>
            </a:r>
          </a:p>
        </p:txBody>
      </p:sp>
      <p:sp>
        <p:nvSpPr>
          <p:cNvPr id="12" name="stage-node">
            <a:extLst xmlns:a="http://schemas.openxmlformats.org/drawingml/2006/main">
              <a:ext uri="{FF2B5EF4-FFF2-40B4-BE49-F238E27FC236}">
                <a16:creationId xmlns:a16="http://schemas.microsoft.com/office/drawing/2014/main" id="{65FA5E74-2E13-4D47-AB3F-8B1E258C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2114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481AC17-4679-4022-96E3-A9E19968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14" name="stage-sub">
            <a:extLst xmlns:a="http://schemas.openxmlformats.org/drawingml/2006/main">
              <a:ext uri="{FF2B5EF4-FFF2-40B4-BE49-F238E27FC236}">
                <a16:creationId xmlns:a16="http://schemas.microsoft.com/office/drawing/2014/main" id="{164415A1-3B32-4904-B883-D96F1D2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多源取证</a:t>
            </a:r>
          </a:p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充分度校验</a:t>
            </a:r>
          </a:p>
        </p:txBody>
      </p:sp>
      <p:sp>
        <p:nvSpPr>
          <p:cNvPr id="15" name="stage-node">
            <a:extLst xmlns:a="http://schemas.openxmlformats.org/drawingml/2006/main">
              <a:ext uri="{FF2B5EF4-FFF2-40B4-BE49-F238E27FC236}">
                <a16:creationId xmlns:a16="http://schemas.microsoft.com/office/drawing/2014/main" id="{27236239-4CBE-4EAE-B2AF-86C42A38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47900"/>
            <a:ext cx="2114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218BD5-6506-48DE-9F6F-570A3F9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ADJUDICATION</a:t>
            </a:r>
          </a:p>
        </p:txBody>
      </p:sp>
      <p:sp>
        <p:nvSpPr>
          <p:cNvPr id="17" name="stage-sub">
            <a:extLst xmlns:a="http://schemas.openxmlformats.org/drawingml/2006/main">
              <a:ext uri="{FF2B5EF4-FFF2-40B4-BE49-F238E27FC236}">
                <a16:creationId xmlns:a16="http://schemas.microsoft.com/office/drawing/2014/main" id="{E404D13B-0B47-4CB7-B852-A4B7D59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定性 ⇄ 质疑</a:t>
            </a:r>
          </a:p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强制双派发</a:t>
            </a:r>
          </a:p>
        </p:txBody>
      </p:sp>
      <p:sp>
        <p:nvSpPr>
          <p:cNvPr id="18" name="stage-node">
            <a:extLst xmlns:a="http://schemas.openxmlformats.org/drawingml/2006/main">
              <a:ext uri="{FF2B5EF4-FFF2-40B4-BE49-F238E27FC236}">
                <a16:creationId xmlns:a16="http://schemas.microsoft.com/office/drawing/2014/main" id="{542EB4F8-B0EE-4F0A-A960-8D06B42A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47900"/>
            <a:ext cx="2114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tage-label">
            <a:extLst xmlns:a="http://schemas.openxmlformats.org/drawingml/2006/main">
              <a:ext uri="{FF2B5EF4-FFF2-40B4-BE49-F238E27FC236}">
                <a16:creationId xmlns:a16="http://schemas.microsoft.com/office/drawing/2014/main" id="{D8378D45-7197-40E0-9DF1-31163148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DISPOSITION</a:t>
            </a:r>
          </a:p>
        </p:txBody>
      </p:sp>
      <p:sp>
        <p:nvSpPr>
          <p:cNvPr id="20" name="stage-sub">
            <a:extLst xmlns:a="http://schemas.openxmlformats.org/drawingml/2006/main">
              <a:ext uri="{FF2B5EF4-FFF2-40B4-BE49-F238E27FC236}">
                <a16:creationId xmlns:a16="http://schemas.microsoft.com/office/drawing/2014/main" id="{9930310A-808B-438D-8A2F-85AB6CE0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L0-L3 闸门</a:t>
            </a:r>
          </a:p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审批 / 执行</a:t>
            </a:r>
          </a:p>
        </p:txBody>
      </p:sp>
      <p:sp>
        <p:nvSpPr>
          <p:cNvPr id="21" name="stage-node">
            <a:extLst xmlns:a="http://schemas.openxmlformats.org/drawingml/2006/main">
              <a:ext uri="{FF2B5EF4-FFF2-40B4-BE49-F238E27FC236}">
                <a16:creationId xmlns:a16="http://schemas.microsoft.com/office/drawing/2014/main" id="{63C64FCD-36F6-45DD-BF05-8939CF4F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2114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31454AB-0810-4AB0-972A-077C702A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AUDIT</a:t>
            </a:r>
          </a:p>
        </p:txBody>
      </p:sp>
      <p:sp>
        <p:nvSpPr>
          <p:cNvPr id="23" name="stage-sub">
            <a:extLst xmlns:a="http://schemas.openxmlformats.org/drawingml/2006/main">
              <a:ext uri="{FF2B5EF4-FFF2-40B4-BE49-F238E27FC236}">
                <a16:creationId xmlns:a16="http://schemas.microsoft.com/office/drawing/2014/main" id="{3F9B4EFC-896B-4BF3-B0F9-134DBAD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合规核验</a:t>
            </a:r>
          </a:p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经验回流</a:t>
            </a:r>
          </a:p>
        </p:txBody>
      </p:sp>
      <p:sp>
        <p:nvSpPr>
          <p:cNvPr id="24" name="exception-label">
            <a:extLst xmlns:a="http://schemas.openxmlformats.org/drawingml/2006/main">
              <a:ext uri="{FF2B5EF4-FFF2-40B4-BE49-F238E27FC236}">
                <a16:creationId xmlns:a16="http://schemas.microsoft.com/office/drawing/2014/main" id="{842BE808-CDA4-4768-83E0-E5A0E659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异常分支</a:t>
            </a:r>
          </a:p>
        </p:txBody>
      </p:sp>
      <p:sp>
        <p:nvSpPr>
          <p:cNvPr id="25" name="exception-dot">
            <a:extLst xmlns:a="http://schemas.openxmlformats.org/drawingml/2006/main">
              <a:ext uri="{FF2B5EF4-FFF2-40B4-BE49-F238E27FC236}">
                <a16:creationId xmlns:a16="http://schemas.microsoft.com/office/drawing/2014/main" id="{68BFBCD4-2CE8-4DF4-B747-EEDDE014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529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6" name="exception-title">
            <a:extLst xmlns:a="http://schemas.openxmlformats.org/drawingml/2006/main">
              <a:ext uri="{FF2B5EF4-FFF2-40B4-BE49-F238E27FC236}">
                <a16:creationId xmlns:a16="http://schemas.microsoft.com/office/drawing/2014/main" id="{BD88AB0D-EDCA-481E-AEEE-BE8E68C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证据不足</a:t>
            </a:r>
          </a:p>
        </p:txBody>
      </p:sp>
      <p:sp>
        <p:nvSpPr>
          <p:cNvPr id="27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845331D1-F75E-45FB-A925-3AF92540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7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最多补证 2 次 → EVIDENCE_GAP 转人工</a:t>
            </a:r>
          </a:p>
        </p:txBody>
      </p:sp>
      <p:sp>
        <p:nvSpPr>
          <p:cNvPr id="28" name="exception-dot">
            <a:extLst xmlns:a="http://schemas.openxmlformats.org/drawingml/2006/main">
              <a:ext uri="{FF2B5EF4-FFF2-40B4-BE49-F238E27FC236}">
                <a16:creationId xmlns:a16="http://schemas.microsoft.com/office/drawing/2014/main" id="{87596FE1-971F-4E74-BB8B-2E54D370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291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29" name="exception-title">
            <a:extLst xmlns:a="http://schemas.openxmlformats.org/drawingml/2006/main">
              <a:ext uri="{FF2B5EF4-FFF2-40B4-BE49-F238E27FC236}">
                <a16:creationId xmlns:a16="http://schemas.microsoft.com/office/drawing/2014/main" id="{90C77F4E-C5E3-499A-95D7-C827BED3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质疑未覆盖</a:t>
            </a:r>
          </a:p>
        </p:txBody>
      </p:sp>
      <p:sp>
        <p:nvSpPr>
          <p:cNvPr id="30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B65CDEF4-BCDC-4A55-8BDF-258EAA82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未覆盖主因即阻断，不视为质疑通过</a:t>
            </a:r>
          </a:p>
        </p:txBody>
      </p:sp>
      <p:sp>
        <p:nvSpPr>
          <p:cNvPr id="31" name="exception-dot">
            <a:extLst xmlns:a="http://schemas.openxmlformats.org/drawingml/2006/main">
              <a:ext uri="{FF2B5EF4-FFF2-40B4-BE49-F238E27FC236}">
                <a16:creationId xmlns:a16="http://schemas.microsoft.com/office/drawing/2014/main" id="{8C5BA1D7-DB14-4761-A8BE-6A49A9C2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054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2" name="exception-title">
            <a:extLst xmlns:a="http://schemas.openxmlformats.org/drawingml/2006/main">
              <a:ext uri="{FF2B5EF4-FFF2-40B4-BE49-F238E27FC236}">
                <a16:creationId xmlns:a16="http://schemas.microsoft.com/office/drawing/2014/main" id="{A46C48DE-B304-411D-A568-0073643B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L2 未审批 / 被拒</a:t>
            </a:r>
          </a:p>
        </p:txBody>
      </p:sp>
      <p:sp>
        <p:nvSpPr>
          <p:cNvPr id="33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3CB99AEF-259A-4695-A54E-4F0DA044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24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停在处置阶段；拒绝后降为 L0，零写操作</a:t>
            </a:r>
          </a:p>
        </p:txBody>
      </p:sp>
      <p:sp>
        <p:nvSpPr>
          <p:cNvPr id="34" name="exception-dot">
            <a:extLst xmlns:a="http://schemas.openxmlformats.org/drawingml/2006/main">
              <a:ext uri="{FF2B5EF4-FFF2-40B4-BE49-F238E27FC236}">
                <a16:creationId xmlns:a16="http://schemas.microsoft.com/office/drawing/2014/main" id="{4F929557-2197-49C4-BE39-5E846583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505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65050"/>
                </a:solidFill>
                <a:latin typeface="PingFang SC"/>
                <a:ea typeface="PingFang SC"/>
                <a:cs typeface="PingFang SC"/>
              </a:rPr>
              <a:t>•</a:t>
            </a:r>
          </a:p>
        </p:txBody>
      </p:sp>
      <p:sp>
        <p:nvSpPr>
          <p:cNvPr id="35" name="exception-title">
            <a:extLst xmlns:a="http://schemas.openxmlformats.org/drawingml/2006/main">
              <a:ext uri="{FF2B5EF4-FFF2-40B4-BE49-F238E27FC236}">
                <a16:creationId xmlns:a16="http://schemas.microsoft.com/office/drawing/2014/main" id="{688FC6AB-941C-4A7A-A83F-87526112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模型 / 端点异常</a:t>
            </a:r>
          </a:p>
        </p:txBody>
      </p:sp>
      <p:sp>
        <p:nvSpPr>
          <p:cNvPr id="36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D2FCAB7B-73EA-4562-912D-A48006AE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00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定性失败回退补证；质疑失败与鉴权失败一律阻断</a:t>
            </a:r>
          </a:p>
        </p:txBody>
      </p:sp>
      <p:sp>
        <p:nvSpPr>
          <p:cNvPr id="3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5AB1580-ABCA-47B7-A521-F434F395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C931A2C-F293-4BE2-A818-790A8095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857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029C64E-B092-49EB-B407-F1E9096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4184A6-219A-40FF-BA90-15327B5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无证据不决策：每个结论必须能回到原件与哈希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CE4085-6FBC-407A-8743-BE0CBB9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证据账本、对抗质疑与裁决器共同阻断“模型说得像真的”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1841E7-F03C-42F1-9A77-60D7226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evidence-ledger">
            <a:extLst xmlns:a="http://schemas.openxmlformats.org/drawingml/2006/main">
              <a:ext uri="{FF2B5EF4-FFF2-40B4-BE49-F238E27FC236}">
                <a16:creationId xmlns:a16="http://schemas.microsoft.com/office/drawing/2014/main" id="{7C072BBE-6DFA-4A30-AD5B-F1A169D9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62300" cy="36957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dger-title">
            <a:extLst xmlns:a="http://schemas.openxmlformats.org/drawingml/2006/main">
              <a:ext uri="{FF2B5EF4-FFF2-40B4-BE49-F238E27FC236}">
                <a16:creationId xmlns:a16="http://schemas.microsoft.com/office/drawing/2014/main" id="{C00D6ACF-B81B-4830-AE4D-BF143E02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Evidence Ledger</a:t>
            </a:r>
          </a:p>
        </p:txBody>
      </p:sp>
      <p:sp>
        <p:nvSpPr>
          <p:cNvPr id="7" name="ledger-fields">
            <a:extLst xmlns:a="http://schemas.openxmlformats.org/drawingml/2006/main">
              <a:ext uri="{FF2B5EF4-FFF2-40B4-BE49-F238E27FC236}">
                <a16:creationId xmlns:a16="http://schemas.microsoft.com/office/drawing/2014/main" id="{4EA55CC7-DB9E-4208-81C1-5FD55582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append-only</a:t>
            </a:r>
          </a:p>
          <a:p xmlns:a="http://schemas.openxmlformats.org/drawingml/2006/main">
            <a:pPr algn="l">
              <a:def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source + timestamp</a:t>
            </a:r>
          </a:p>
          <a:p xmlns:a="http://schemas.openxmlformats.org/drawingml/2006/main">
            <a:pPr algn="l">
              <a:def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content hash</a:t>
            </a:r>
          </a:p>
          <a:p xmlns:a="http://schemas.openxmlformats.org/drawingml/2006/main">
            <a:pPr algn="l">
              <a:def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evidence grade</a:t>
            </a:r>
          </a:p>
          <a:p xmlns:a="http://schemas.openxmlformats.org/drawingml/2006/main">
            <a:pPr algn="l">
              <a:def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explicit gaps</a:t>
            </a:r>
          </a:p>
        </p:txBody>
      </p:sp>
      <p:sp>
        <p:nvSpPr>
          <p:cNvPr id="8" name="chip-bg">
            <a:extLst xmlns:a="http://schemas.openxmlformats.org/drawingml/2006/main">
              <a:ext uri="{FF2B5EF4-FFF2-40B4-BE49-F238E27FC236}">
                <a16:creationId xmlns:a16="http://schemas.microsoft.com/office/drawing/2014/main" id="{8977932E-4628-4F99-8836-4B0501AE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ip-text">
            <a:extLst xmlns:a="http://schemas.openxmlformats.org/drawingml/2006/main">
              <a:ext uri="{FF2B5EF4-FFF2-40B4-BE49-F238E27FC236}">
                <a16:creationId xmlns:a16="http://schemas.microsoft.com/office/drawing/2014/main" id="{2D50211B-078D-4B02-92E4-4C3A3FA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EV-xxxx-xxxx</a:t>
            </a:r>
          </a:p>
        </p:txBody>
      </p:sp>
      <p:sp>
        <p:nvSpPr>
          <p:cNvPr id="10" name="analyst-panel">
            <a:extLst xmlns:a="http://schemas.openxmlformats.org/drawingml/2006/main">
              <a:ext uri="{FF2B5EF4-FFF2-40B4-BE49-F238E27FC236}">
                <a16:creationId xmlns:a16="http://schemas.microsoft.com/office/drawing/2014/main" id="{ABDD00B8-28C3-4C33-B415-1611F410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90700"/>
            <a:ext cx="36385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analyst-title">
            <a:extLst xmlns:a="http://schemas.openxmlformats.org/drawingml/2006/main">
              <a:ext uri="{FF2B5EF4-FFF2-40B4-BE49-F238E27FC236}">
                <a16:creationId xmlns:a16="http://schemas.microsoft.com/office/drawing/2014/main" id="{99F0A763-236E-4159-973B-AE992BDA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RiskAnalyst</a:t>
            </a:r>
          </a:p>
        </p:txBody>
      </p:sp>
      <p:sp>
        <p:nvSpPr>
          <p:cNvPr id="12" name="analyst-body">
            <a:extLst xmlns:a="http://schemas.openxmlformats.org/drawingml/2006/main">
              <a:ext uri="{FF2B5EF4-FFF2-40B4-BE49-F238E27FC236}">
                <a16:creationId xmlns:a16="http://schemas.microsoft.com/office/drawing/2014/main" id="{601F8897-5945-455B-AE89-E62E2D9C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只基于同一证据集</a:t>
            </a:r>
          </a:p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提出“风险成立”主因</a:t>
            </a:r>
          </a:p>
        </p:txBody>
      </p:sp>
      <p:sp>
        <p:nvSpPr>
          <p:cNvPr id="13" name="advocate-panel">
            <a:extLst xmlns:a="http://schemas.openxmlformats.org/drawingml/2006/main">
              <a:ext uri="{FF2B5EF4-FFF2-40B4-BE49-F238E27FC236}">
                <a16:creationId xmlns:a16="http://schemas.microsoft.com/office/drawing/2014/main" id="{72A7DAB1-55BF-4BBB-89E3-45B75AF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90950"/>
            <a:ext cx="36385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dv-title">
            <a:extLst xmlns:a="http://schemas.openxmlformats.org/drawingml/2006/main">
              <a:ext uri="{FF2B5EF4-FFF2-40B4-BE49-F238E27FC236}">
                <a16:creationId xmlns:a16="http://schemas.microsoft.com/office/drawing/2014/main" id="{86C8DFF3-083F-436D-8C9D-D9249D1D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DevilsAdvocate</a:t>
            </a:r>
          </a:p>
        </p:txBody>
      </p:sp>
      <p:sp>
        <p:nvSpPr>
          <p:cNvPr id="15" name="adv-body">
            <a:extLst xmlns:a="http://schemas.openxmlformats.org/drawingml/2006/main">
              <a:ext uri="{FF2B5EF4-FFF2-40B4-BE49-F238E27FC236}">
                <a16:creationId xmlns:a16="http://schemas.microsoft.com/office/drawing/2014/main" id="{8AEDE26D-E900-43D0-B8C5-A9F996D9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逐条寻找反证与替代解释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覆盖不足即一票阻断</a:t>
            </a:r>
          </a:p>
        </p:txBody>
      </p:sp>
      <p:sp>
        <p:nvSpPr>
          <p:cNvPr id="16" name="verdict-panel">
            <a:extLst xmlns:a="http://schemas.openxmlformats.org/drawingml/2006/main">
              <a:ext uri="{FF2B5EF4-FFF2-40B4-BE49-F238E27FC236}">
                <a16:creationId xmlns:a16="http://schemas.microsoft.com/office/drawing/2014/main" id="{F6724422-CE86-4A87-B12F-6349473E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638550" cy="369570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D10"/>
            </a:solidFill>
            <a:prstDash val="solid"/>
          </a:ln>
        </p:spPr>
      </p:sp>
      <p:sp>
        <p:nvSpPr>
          <p:cNvPr id="17" name="verdict-title">
            <a:extLst xmlns:a="http://schemas.openxmlformats.org/drawingml/2006/main">
              <a:ext uri="{FF2B5EF4-FFF2-40B4-BE49-F238E27FC236}">
                <a16:creationId xmlns:a16="http://schemas.microsoft.com/office/drawing/2014/main" id="{64F88140-6B8D-4CAD-B53B-FB551C92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裁决器只接受三类结果</a:t>
            </a:r>
          </a:p>
        </p:txBody>
      </p:sp>
      <p:sp>
        <p:nvSpPr>
          <p:cNvPr id="18" name="verdict-code">
            <a:extLst xmlns:a="http://schemas.openxmlformats.org/drawingml/2006/main">
              <a:ext uri="{FF2B5EF4-FFF2-40B4-BE49-F238E27FC236}">
                <a16:creationId xmlns:a16="http://schemas.microsoft.com/office/drawing/2014/main" id="{6E53CD34-0D96-404F-90A5-2A7DE1F1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RISK_CONFIRMED</a:t>
            </a:r>
          </a:p>
        </p:txBody>
      </p:sp>
      <p:sp>
        <p:nvSpPr>
          <p:cNvPr id="19" name="verdict-desc">
            <a:extLst xmlns:a="http://schemas.openxmlformats.org/drawingml/2006/main">
              <a:ext uri="{FF2B5EF4-FFF2-40B4-BE49-F238E27FC236}">
                <a16:creationId xmlns:a16="http://schemas.microsoft.com/office/drawing/2014/main" id="{8AF3999B-44A1-4890-8B03-5822D51E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908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风险成立 → 进入闸门</a:t>
            </a:r>
          </a:p>
        </p:txBody>
      </p:sp>
      <p:sp>
        <p:nvSpPr>
          <p:cNvPr id="20" name="verdict-code">
            <a:extLst xmlns:a="http://schemas.openxmlformats.org/drawingml/2006/main">
              <a:ext uri="{FF2B5EF4-FFF2-40B4-BE49-F238E27FC236}">
                <a16:creationId xmlns:a16="http://schemas.microsoft.com/office/drawing/2014/main" id="{C43B63C5-7111-439D-A76D-023515E8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9E7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9E76"/>
                </a:solidFill>
                <a:latin typeface="PingFang SC"/>
                <a:ea typeface="PingFang SC"/>
                <a:cs typeface="PingFang SC"/>
              </a:rPr>
              <a:t>RISK_REFUTED</a:t>
            </a:r>
          </a:p>
        </p:txBody>
      </p:sp>
      <p:sp>
        <p:nvSpPr>
          <p:cNvPr id="21" name="verdict-desc">
            <a:extLst xmlns:a="http://schemas.openxmlformats.org/drawingml/2006/main">
              <a:ext uri="{FF2B5EF4-FFF2-40B4-BE49-F238E27FC236}">
                <a16:creationId xmlns:a16="http://schemas.microsoft.com/office/drawing/2014/main" id="{F86A5774-79F8-4410-BFE5-BBCDBD47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误报 → L0 + 加强监测</a:t>
            </a:r>
          </a:p>
        </p:txBody>
      </p:sp>
      <p:sp>
        <p:nvSpPr>
          <p:cNvPr id="22" name="verdict-code">
            <a:extLst xmlns:a="http://schemas.openxmlformats.org/drawingml/2006/main">
              <a:ext uri="{FF2B5EF4-FFF2-40B4-BE49-F238E27FC236}">
                <a16:creationId xmlns:a16="http://schemas.microsoft.com/office/drawing/2014/main" id="{FD0485D1-3F4C-4127-919C-1B225510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EVIDENCE_INSUFFICIENT</a:t>
            </a:r>
          </a:p>
        </p:txBody>
      </p:sp>
      <p:sp>
        <p:nvSpPr>
          <p:cNvPr id="23" name="verdict-desc">
            <a:extLst xmlns:a="http://schemas.openxmlformats.org/drawingml/2006/main">
              <a:ext uri="{FF2B5EF4-FFF2-40B4-BE49-F238E27FC236}">
                <a16:creationId xmlns:a16="http://schemas.microsoft.com/office/drawing/2014/main" id="{2AD883AE-4BC7-4EB2-A85D-4B10C535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529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补证或转人工</a:t>
            </a:r>
          </a:p>
        </p:txBody>
      </p:sp>
      <p:sp>
        <p:nvSpPr>
          <p:cNvPr id="24" name="hard-check">
            <a:extLst xmlns:a="http://schemas.openxmlformats.org/drawingml/2006/main">
              <a:ext uri="{FF2B5EF4-FFF2-40B4-BE49-F238E27FC236}">
                <a16:creationId xmlns:a16="http://schemas.microsoft.com/office/drawing/2014/main" id="{01999CFA-EBC6-437A-BA2B-DFA2C84F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硬校验</a:t>
            </a:r>
          </a:p>
        </p:txBody>
      </p:sp>
      <p:sp>
        <p:nvSpPr>
          <p:cNvPr id="25" name="hard-check-body">
            <a:extLst xmlns:a="http://schemas.openxmlformats.org/drawingml/2006/main">
              <a:ext uri="{FF2B5EF4-FFF2-40B4-BE49-F238E27FC236}">
                <a16:creationId xmlns:a16="http://schemas.microsoft.com/office/drawing/2014/main" id="{4AFFFDB8-F7D5-41E7-9ACD-F7C42F1C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149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505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65050"/>
                </a:solidFill>
                <a:latin typeface="PingFang SC"/>
                <a:ea typeface="PingFang SC"/>
                <a:cs typeface="PingFang SC"/>
              </a:rPr>
              <a:t>引用不存在 / 无证据主因 / 仅凭缺失证据 → 拒绝</a:t>
            </a:r>
          </a:p>
        </p:txBody>
      </p:sp>
      <p:sp>
        <p:nvSpPr>
          <p:cNvPr id="26" name="context-claim">
            <a:extLst xmlns:a="http://schemas.openxmlformats.org/drawingml/2006/main">
              <a:ext uri="{FF2B5EF4-FFF2-40B4-BE49-F238E27FC236}">
                <a16:creationId xmlns:a16="http://schemas.microsoft.com/office/drawing/2014/main" id="{C979DFE0-231F-4705-8125-5E464293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原文不灌入上下文；共享的是摘要、ID、版本和裁剪账单</a:t>
            </a:r>
          </a:p>
        </p:txBody>
      </p:sp>
      <p:sp>
        <p:nvSpPr>
          <p:cNvPr id="2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1EDC672-27F7-4E85-997F-57D7DB77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22F77D-810B-4D7C-A967-F725FD13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9501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46C0284-5657-4340-9A62-D8970D36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333303-D9CF-46E5-9A5F-8E530FDA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四维执行闸门：该动时动，该停时停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88ACE8-75B2-4F3B-A835-F44000C0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动作可逆性 × 影响范围 × 敞口金额 × 证据置信度；缺参或未知动作一律 fail-safe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DF43BDE-8415-43B1-AFD3-B6FEC0D0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ier-card">
            <a:extLst xmlns:a="http://schemas.openxmlformats.org/drawingml/2006/main">
              <a:ext uri="{FF2B5EF4-FFF2-40B4-BE49-F238E27FC236}">
                <a16:creationId xmlns:a16="http://schemas.microsoft.com/office/drawing/2014/main" id="{4B2852B8-7A95-41E8-A09F-B00EE70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2609850" cy="26289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er-code">
            <a:extLst xmlns:a="http://schemas.openxmlformats.org/drawingml/2006/main">
              <a:ext uri="{FF2B5EF4-FFF2-40B4-BE49-F238E27FC236}">
                <a16:creationId xmlns:a16="http://schemas.microsoft.com/office/drawing/2014/main" id="{97029F04-54B2-4727-BE42-3DE34BEB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L0</a:t>
            </a:r>
          </a:p>
        </p:txBody>
      </p:sp>
      <p:sp>
        <p:nvSpPr>
          <p:cNvPr id="7" name="tier-name">
            <a:extLst xmlns:a="http://schemas.openxmlformats.org/drawingml/2006/main">
              <a:ext uri="{FF2B5EF4-FFF2-40B4-BE49-F238E27FC236}">
                <a16:creationId xmlns:a16="http://schemas.microsoft.com/office/drawing/2014/main" id="{B99B7C26-A040-49A3-8BD5-3DDB40D2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只读诊断</a:t>
            </a:r>
          </a:p>
        </p:txBody>
      </p:sp>
      <p:sp>
        <p:nvSpPr>
          <p:cNvPr id="8" name="tier-body">
            <a:extLst xmlns:a="http://schemas.openxmlformats.org/drawingml/2006/main">
              <a:ext uri="{FF2B5EF4-FFF2-40B4-BE49-F238E27FC236}">
                <a16:creationId xmlns:a16="http://schemas.microsoft.com/office/drawing/2014/main" id="{4839B335-1959-47A0-A6E3-CE284AB4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维持原状</a:t>
            </a:r>
          </a:p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加强监测</a:t>
            </a:r>
          </a:p>
        </p:txBody>
      </p:sp>
      <p:sp>
        <p:nvSpPr>
          <p:cNvPr id="9" name="tier-card">
            <a:extLst xmlns:a="http://schemas.openxmlformats.org/drawingml/2006/main">
              <a:ext uri="{FF2B5EF4-FFF2-40B4-BE49-F238E27FC236}">
                <a16:creationId xmlns:a16="http://schemas.microsoft.com/office/drawing/2014/main" id="{4DCE7831-25CA-4823-8455-56A28325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66900"/>
            <a:ext cx="2609850" cy="26289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er-code">
            <a:extLst xmlns:a="http://schemas.openxmlformats.org/drawingml/2006/main">
              <a:ext uri="{FF2B5EF4-FFF2-40B4-BE49-F238E27FC236}">
                <a16:creationId xmlns:a16="http://schemas.microsoft.com/office/drawing/2014/main" id="{C0285F8C-C69D-466E-8CAF-60FBC6A7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  <p:sp>
        <p:nvSpPr>
          <p:cNvPr id="11" name="tier-name">
            <a:extLst xmlns:a="http://schemas.openxmlformats.org/drawingml/2006/main">
              <a:ext uri="{FF2B5EF4-FFF2-40B4-BE49-F238E27FC236}">
                <a16:creationId xmlns:a16="http://schemas.microsoft.com/office/drawing/2014/main" id="{D03B3640-4F7A-4B16-8538-CE8BB3C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低风险建议</a:t>
            </a:r>
          </a:p>
        </p:txBody>
      </p:sp>
      <p:sp>
        <p:nvSpPr>
          <p:cNvPr id="12" name="tier-body">
            <a:extLst xmlns:a="http://schemas.openxmlformats.org/drawingml/2006/main">
              <a:ext uri="{FF2B5EF4-FFF2-40B4-BE49-F238E27FC236}">
                <a16:creationId xmlns:a16="http://schemas.microsoft.com/office/drawing/2014/main" id="{1D3ACFE0-BF0C-4F28-879F-6E45E5D4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生成建议</a:t>
            </a:r>
          </a:p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无需写业务系统</a:t>
            </a:r>
          </a:p>
        </p:txBody>
      </p:sp>
      <p:sp>
        <p:nvSpPr>
          <p:cNvPr id="13" name="tier-card">
            <a:extLst xmlns:a="http://schemas.openxmlformats.org/drawingml/2006/main">
              <a:ext uri="{FF2B5EF4-FFF2-40B4-BE49-F238E27FC236}">
                <a16:creationId xmlns:a16="http://schemas.microsoft.com/office/drawing/2014/main" id="{5A5E32DF-765C-4CEA-B4A4-2A9A6256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2609850" cy="26289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tier-code">
            <a:extLst xmlns:a="http://schemas.openxmlformats.org/drawingml/2006/main">
              <a:ext uri="{FF2B5EF4-FFF2-40B4-BE49-F238E27FC236}">
                <a16:creationId xmlns:a16="http://schemas.microsoft.com/office/drawing/2014/main" id="{959E5427-BBA0-44BA-BCA1-1CA2C67E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L2</a:t>
            </a:r>
          </a:p>
        </p:txBody>
      </p:sp>
      <p:sp>
        <p:nvSpPr>
          <p:cNvPr id="15" name="tier-name">
            <a:extLst xmlns:a="http://schemas.openxmlformats.org/drawingml/2006/main">
              <a:ext uri="{FF2B5EF4-FFF2-40B4-BE49-F238E27FC236}">
                <a16:creationId xmlns:a16="http://schemas.microsoft.com/office/drawing/2014/main" id="{C445FCB2-2166-4B98-8ED7-61762A37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审批后执行</a:t>
            </a:r>
          </a:p>
        </p:txBody>
      </p:sp>
      <p:sp>
        <p:nvSpPr>
          <p:cNvPr id="16" name="tier-body">
            <a:extLst xmlns:a="http://schemas.openxmlformats.org/drawingml/2006/main">
              <a:ext uri="{FF2B5EF4-FFF2-40B4-BE49-F238E27FC236}">
                <a16:creationId xmlns:a16="http://schemas.microsoft.com/office/drawing/2014/main" id="{1787A932-CF86-463C-AC3F-72796701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可逆动作</a:t>
            </a:r>
          </a:p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令牌验签 + 幂等</a:t>
            </a:r>
          </a:p>
        </p:txBody>
      </p:sp>
      <p:sp>
        <p:nvSpPr>
          <p:cNvPr id="17" name="tier-card">
            <a:extLst xmlns:a="http://schemas.openxmlformats.org/drawingml/2006/main">
              <a:ext uri="{FF2B5EF4-FFF2-40B4-BE49-F238E27FC236}">
                <a16:creationId xmlns:a16="http://schemas.microsoft.com/office/drawing/2014/main" id="{8E1E02C1-2B57-4DC8-88E0-DC26942B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609850" cy="26289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ier-code">
            <a:extLst xmlns:a="http://schemas.openxmlformats.org/drawingml/2006/main">
              <a:ext uri="{FF2B5EF4-FFF2-40B4-BE49-F238E27FC236}">
                <a16:creationId xmlns:a16="http://schemas.microsoft.com/office/drawing/2014/main" id="{00FC90E9-EE8A-484C-B850-F1F1006D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L3</a:t>
            </a:r>
          </a:p>
        </p:txBody>
      </p:sp>
      <p:sp>
        <p:nvSpPr>
          <p:cNvPr id="19" name="tier-name">
            <a:extLst xmlns:a="http://schemas.openxmlformats.org/drawingml/2006/main">
              <a:ext uri="{FF2B5EF4-FFF2-40B4-BE49-F238E27FC236}">
                <a16:creationId xmlns:a16="http://schemas.microsoft.com/office/drawing/2014/main" id="{24308E20-7F6F-4657-A1C1-B68EFC90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只出方案</a:t>
            </a:r>
          </a:p>
        </p:txBody>
      </p:sp>
      <p:sp>
        <p:nvSpPr>
          <p:cNvPr id="20" name="tier-body">
            <a:extLst xmlns:a="http://schemas.openxmlformats.org/drawingml/2006/main">
              <a:ext uri="{FF2B5EF4-FFF2-40B4-BE49-F238E27FC236}">
                <a16:creationId xmlns:a16="http://schemas.microsoft.com/office/drawing/2014/main" id="{B0BC98B1-4B5C-4C59-B4BC-C0C1C23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290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不可逆 / 大额</a:t>
            </a:r>
          </a:p>
          <a:p xmlns:a="http://schemas.openxmlformats.org/drawingml/2006/main">
            <a:pPr algn="l">
              <a:defRPr sz="1425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系统不派执行方</a:t>
            </a:r>
          </a:p>
        </p:txBody>
      </p:sp>
      <p:sp>
        <p:nvSpPr>
          <p:cNvPr id="21" name="compare-label">
            <a:extLst xmlns:a="http://schemas.openxmlformats.org/drawingml/2006/main">
              <a:ext uri="{FF2B5EF4-FFF2-40B4-BE49-F238E27FC236}">
                <a16:creationId xmlns:a16="http://schemas.microsoft.com/office/drawing/2014/main" id="{494DAAB5-0FCD-46C7-BF2A-DECEACA0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同一个“压降 30%”动作</a:t>
            </a:r>
          </a:p>
        </p:txBody>
      </p:sp>
      <p:sp>
        <p:nvSpPr>
          <p:cNvPr id="22" name="compare-l2">
            <a:extLst xmlns:a="http://schemas.openxmlformats.org/drawingml/2006/main">
              <a:ext uri="{FF2B5EF4-FFF2-40B4-BE49-F238E27FC236}">
                <a16:creationId xmlns:a16="http://schemas.microsoft.com/office/drawing/2014/main" id="{806CE62D-1ADF-448F-8F67-247DE82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31432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compare-l2-text">
            <a:extLst xmlns:a="http://schemas.openxmlformats.org/drawingml/2006/main">
              <a:ext uri="{FF2B5EF4-FFF2-40B4-BE49-F238E27FC236}">
                <a16:creationId xmlns:a16="http://schemas.microsoft.com/office/drawing/2014/main" id="{5529B2CA-AB16-4787-9199-1A9CD659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625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620 万敞口  →  L2 审批后执行</a:t>
            </a:r>
          </a:p>
        </p:txBody>
      </p:sp>
      <p:sp>
        <p:nvSpPr>
          <p:cNvPr id="24" name="compare-l3">
            <a:extLst xmlns:a="http://schemas.openxmlformats.org/drawingml/2006/main">
              <a:ext uri="{FF2B5EF4-FFF2-40B4-BE49-F238E27FC236}">
                <a16:creationId xmlns:a16="http://schemas.microsoft.com/office/drawing/2014/main" id="{46030F00-4FD2-4508-9EDE-2AC05AF7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0"/>
            <a:ext cx="47625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are-l3-text">
            <a:extLst xmlns:a="http://schemas.openxmlformats.org/drawingml/2006/main">
              <a:ext uri="{FF2B5EF4-FFF2-40B4-BE49-F238E27FC236}">
                <a16:creationId xmlns:a16="http://schemas.microsoft.com/office/drawing/2014/main" id="{85AC22AD-B897-4A47-A1E0-E257538B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6252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6.5 亿敞口  →  L3 只出方案、写调用为 0</a:t>
            </a:r>
          </a:p>
        </p:txBody>
      </p:sp>
      <p:sp>
        <p:nvSpPr>
          <p:cNvPr id="26" name="gate-invariant">
            <a:extLst xmlns:a="http://schemas.openxmlformats.org/drawingml/2006/main">
              <a:ext uri="{FF2B5EF4-FFF2-40B4-BE49-F238E27FC236}">
                <a16:creationId xmlns:a16="http://schemas.microsoft.com/office/drawing/2014/main" id="{71E92C58-C347-48D2-B227-2827EE98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505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65050"/>
                </a:solidFill>
                <a:latin typeface="PingFang SC"/>
                <a:ea typeface="PingFang SC"/>
                <a:cs typeface="PingFang SC"/>
              </a:rPr>
              <a:t>不可逆动作在任何入参组合下都不会落入 L0 / L1；审批拒绝即降级 L0</a:t>
            </a:r>
          </a:p>
        </p:txBody>
      </p:sp>
      <p:sp>
        <p:nvSpPr>
          <p:cNvPr id="2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6B7659F-21E8-4698-9E32-EC29C3A9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3917CA8-DD9E-4F40-89C1-5C4D728B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0721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D156A3F-BA11-40D9-AB35-26151D59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D0250C-A9FA-48CD-B244-0B3383FC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Skill 分层解耦：换模型、换云不改主链路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6614EE-BA52-4DAE-BAD4-ED25D54A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核心资产沉淀为 16 个 CreditSkill Spec；4 个 MCP Mock 与真实接入保持同一 Schema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CC6C59E-6824-4D07-BF31-5C64763C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kill-label">
            <a:extLst xmlns:a="http://schemas.openxmlformats.org/drawingml/2006/main">
              <a:ext uri="{FF2B5EF4-FFF2-40B4-BE49-F238E27FC236}">
                <a16:creationId xmlns:a16="http://schemas.microsoft.com/office/drawing/2014/main" id="{AE23E2F0-AF22-4C9F-B050-C5EB2BFD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SKILL STACK</a:t>
            </a:r>
          </a:p>
        </p:txBody>
      </p:sp>
      <p:sp>
        <p:nvSpPr>
          <p:cNvPr id="6" name="skill-l3">
            <a:extLst xmlns:a="http://schemas.openxmlformats.org/drawingml/2006/main">
              <a:ext uri="{FF2B5EF4-FFF2-40B4-BE49-F238E27FC236}">
                <a16:creationId xmlns:a16="http://schemas.microsoft.com/office/drawing/2014/main" id="{1E0DE4B1-FFBC-498A-A2A0-922549EC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3340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kill-l3-title">
            <a:extLst xmlns:a="http://schemas.openxmlformats.org/drawingml/2006/main">
              <a:ext uri="{FF2B5EF4-FFF2-40B4-BE49-F238E27FC236}">
                <a16:creationId xmlns:a16="http://schemas.microsoft.com/office/drawing/2014/main" id="{DAC29A48-4286-4E8D-8B44-D633FF84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L3 · 领域判断层 / 12 个自研</a:t>
            </a:r>
          </a:p>
        </p:txBody>
      </p:sp>
      <p:sp>
        <p:nvSpPr>
          <p:cNvPr id="8" name="skill-l3-body">
            <a:extLst xmlns:a="http://schemas.openxmlformats.org/drawingml/2006/main">
              <a:ext uri="{FF2B5EF4-FFF2-40B4-BE49-F238E27FC236}">
                <a16:creationId xmlns:a16="http://schemas.microsoft.com/office/drawing/2014/main" id="{55D759AA-3A8F-4AE6-A7DF-A356ADDB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取证、融合、根因、质疑、闸门、证据账本、合规、报告</a:t>
            </a:r>
          </a:p>
        </p:txBody>
      </p:sp>
      <p:sp>
        <p:nvSpPr>
          <p:cNvPr id="9" name="skill-l2">
            <a:extLst xmlns:a="http://schemas.openxmlformats.org/drawingml/2006/main">
              <a:ext uri="{FF2B5EF4-FFF2-40B4-BE49-F238E27FC236}">
                <a16:creationId xmlns:a16="http://schemas.microsoft.com/office/drawing/2014/main" id="{6CDE1BB0-BAF7-4F40-B717-E81E37B7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5334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skill-l2-title">
            <a:extLst xmlns:a="http://schemas.openxmlformats.org/drawingml/2006/main">
              <a:ext uri="{FF2B5EF4-FFF2-40B4-BE49-F238E27FC236}">
                <a16:creationId xmlns:a16="http://schemas.microsoft.com/office/drawing/2014/main" id="{7F7945CC-0481-4F3D-A707-0B62E3DB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L2 · 领域封装层 / 4 个</a:t>
            </a:r>
          </a:p>
        </p:txBody>
      </p:sp>
      <p:sp>
        <p:nvSpPr>
          <p:cNvPr id="11" name="skill-l2-body">
            <a:extLst xmlns:a="http://schemas.openxmlformats.org/drawingml/2006/main">
              <a:ext uri="{FF2B5EF4-FFF2-40B4-BE49-F238E27FC236}">
                <a16:creationId xmlns:a16="http://schemas.microsoft.com/office/drawing/2014/main" id="{BB804ADC-CC6B-4439-B200-B3FB733F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统一契约封装向量检索、对象存储、日志与监控</a:t>
            </a:r>
          </a:p>
        </p:txBody>
      </p:sp>
      <p:sp>
        <p:nvSpPr>
          <p:cNvPr id="12" name="skill-l1">
            <a:extLst xmlns:a="http://schemas.openxmlformats.org/drawingml/2006/main">
              <a:ext uri="{FF2B5EF4-FFF2-40B4-BE49-F238E27FC236}">
                <a16:creationId xmlns:a16="http://schemas.microsoft.com/office/drawing/2014/main" id="{BACE5815-613D-496A-85AE-3F1FA0AD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533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kill-l1-title">
            <a:extLst xmlns:a="http://schemas.openxmlformats.org/drawingml/2006/main">
              <a:ext uri="{FF2B5EF4-FFF2-40B4-BE49-F238E27FC236}">
                <a16:creationId xmlns:a16="http://schemas.microsoft.com/office/drawing/2014/main" id="{3C2084BD-4285-4D92-9621-26D9434A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L1 · 云操作层 / 官方 Skill 或开源替代</a:t>
            </a:r>
          </a:p>
        </p:txBody>
      </p:sp>
      <p:sp>
        <p:nvSpPr>
          <p:cNvPr id="14" name="skill-l1-body">
            <a:extLst xmlns:a="http://schemas.openxmlformats.org/drawingml/2006/main">
              <a:ext uri="{FF2B5EF4-FFF2-40B4-BE49-F238E27FC236}">
                <a16:creationId xmlns:a16="http://schemas.microsoft.com/office/drawing/2014/main" id="{DF0244BF-8978-4FF7-A7E1-3A8A0877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切换实现，不改 Agent 调用链</a:t>
            </a:r>
          </a:p>
        </p:txBody>
      </p:sp>
      <p:sp>
        <p:nvSpPr>
          <p:cNvPr id="15" name="tool-label">
            <a:extLst xmlns:a="http://schemas.openxmlformats.org/drawingml/2006/main">
              <a:ext uri="{FF2B5EF4-FFF2-40B4-BE49-F238E27FC236}">
                <a16:creationId xmlns:a16="http://schemas.microsoft.com/office/drawing/2014/main" id="{E1AE0FC6-CAC3-4376-8CB4-915D2B23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INTEGRATION PATH</a:t>
            </a:r>
          </a:p>
        </p:txBody>
      </p:sp>
      <p:sp>
        <p:nvSpPr>
          <p:cNvPr id="16" name="tool-name">
            <a:extLst xmlns:a="http://schemas.openxmlformats.org/drawingml/2006/main">
              <a:ext uri="{FF2B5EF4-FFF2-40B4-BE49-F238E27FC236}">
                <a16:creationId xmlns:a16="http://schemas.microsoft.com/office/drawing/2014/main" id="{EC8774B0-793D-4C5C-86C0-218DA05E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MCP × 4</a:t>
            </a:r>
          </a:p>
        </p:txBody>
      </p:sp>
      <p:sp>
        <p:nvSpPr>
          <p:cNvPr id="17" name="tool-desc">
            <a:extLst xmlns:a="http://schemas.openxmlformats.org/drawingml/2006/main">
              <a:ext uri="{FF2B5EF4-FFF2-40B4-BE49-F238E27FC236}">
                <a16:creationId xmlns:a16="http://schemas.microsoft.com/office/drawing/2014/main" id="{E0DC7103-AC57-4766-9CC0-6BB61D5D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credit-core / bureau / judicial / txn</a:t>
            </a:r>
          </a:p>
        </p:txBody>
      </p:sp>
      <p:sp>
        <p:nvSpPr>
          <p:cNvPr id="18" name="tool-rule">
            <a:extLst xmlns:a="http://schemas.openxmlformats.org/drawingml/2006/main">
              <a:ext uri="{FF2B5EF4-FFF2-40B4-BE49-F238E27FC236}">
                <a16:creationId xmlns:a16="http://schemas.microsoft.com/office/drawing/2014/main" id="{45F3589C-E8C4-4311-9EED-2A71D7B4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19" name="tool-name">
            <a:extLst xmlns:a="http://schemas.openxmlformats.org/drawingml/2006/main">
              <a:ext uri="{FF2B5EF4-FFF2-40B4-BE49-F238E27FC236}">
                <a16:creationId xmlns:a16="http://schemas.microsoft.com/office/drawing/2014/main" id="{D7E2115A-99F1-4BB7-A44E-F6BFF534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RAG</a:t>
            </a:r>
          </a:p>
        </p:txBody>
      </p:sp>
      <p:sp>
        <p:nvSpPr>
          <p:cNvPr id="20" name="tool-desc">
            <a:extLst xmlns:a="http://schemas.openxmlformats.org/drawingml/2006/main">
              <a:ext uri="{FF2B5EF4-FFF2-40B4-BE49-F238E27FC236}">
                <a16:creationId xmlns:a16="http://schemas.microsoft.com/office/drawing/2014/main" id="{D2A71C15-7832-4BFA-9527-71CD1963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289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政策条款 + 历史案例；召回即证据化</a:t>
            </a:r>
          </a:p>
        </p:txBody>
      </p:sp>
      <p:sp>
        <p:nvSpPr>
          <p:cNvPr id="21" name="tool-rule">
            <a:extLst xmlns:a="http://schemas.openxmlformats.org/drawingml/2006/main">
              <a:ext uri="{FF2B5EF4-FFF2-40B4-BE49-F238E27FC236}">
                <a16:creationId xmlns:a16="http://schemas.microsoft.com/office/drawing/2014/main" id="{9A1829BB-EF10-4B29-9ECB-F9401F6D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22" name="tool-name">
            <a:extLst xmlns:a="http://schemas.openxmlformats.org/drawingml/2006/main">
              <a:ext uri="{FF2B5EF4-FFF2-40B4-BE49-F238E27FC236}">
                <a16:creationId xmlns:a16="http://schemas.microsoft.com/office/drawing/2014/main" id="{BA7E0128-80CE-4FB5-9E0C-7ECC214A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Nacos</a:t>
            </a:r>
          </a:p>
        </p:txBody>
      </p:sp>
      <p:sp>
        <p:nvSpPr>
          <p:cNvPr id="23" name="tool-desc">
            <a:extLst xmlns:a="http://schemas.openxmlformats.org/drawingml/2006/main">
              <a:ext uri="{FF2B5EF4-FFF2-40B4-BE49-F238E27FC236}">
                <a16:creationId xmlns:a16="http://schemas.microsoft.com/office/drawing/2014/main" id="{6DF529DA-0C75-473E-95B5-0ED20284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Skill / Prompt / 路由版本、灰度、回滚</a:t>
            </a:r>
          </a:p>
        </p:txBody>
      </p:sp>
      <p:sp>
        <p:nvSpPr>
          <p:cNvPr id="24" name="tool-rule">
            <a:extLst xmlns:a="http://schemas.openxmlformats.org/drawingml/2006/main">
              <a:ext uri="{FF2B5EF4-FFF2-40B4-BE49-F238E27FC236}">
                <a16:creationId xmlns:a16="http://schemas.microsoft.com/office/drawing/2014/main" id="{3B85D1FA-7E9B-4AA8-9B60-223A821B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25" name="tool-name">
            <a:extLst xmlns:a="http://schemas.openxmlformats.org/drawingml/2006/main">
              <a:ext uri="{FF2B5EF4-FFF2-40B4-BE49-F238E27FC236}">
                <a16:creationId xmlns:a16="http://schemas.microsoft.com/office/drawing/2014/main" id="{79C20025-B99B-4351-8665-96E44A2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Higress</a:t>
            </a:r>
          </a:p>
        </p:txBody>
      </p:sp>
      <p:sp>
        <p:nvSpPr>
          <p:cNvPr id="26" name="tool-desc">
            <a:extLst xmlns:a="http://schemas.openxmlformats.org/drawingml/2006/main">
              <a:ext uri="{FF2B5EF4-FFF2-40B4-BE49-F238E27FC236}">
                <a16:creationId xmlns:a16="http://schemas.microsoft.com/office/drawing/2014/main" id="{3BB98F7A-0085-46FC-A4B6-F8E7F865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凭证透传、consumer 身份、PII 出站脱敏</a:t>
            </a:r>
          </a:p>
        </p:txBody>
      </p:sp>
      <p:sp>
        <p:nvSpPr>
          <p:cNvPr id="27" name="tool-rule">
            <a:extLst xmlns:a="http://schemas.openxmlformats.org/drawingml/2006/main">
              <a:ext uri="{FF2B5EF4-FFF2-40B4-BE49-F238E27FC236}">
                <a16:creationId xmlns:a16="http://schemas.microsoft.com/office/drawing/2014/main" id="{2E3C9D14-87D5-483D-BE50-8ED9F73A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28" name="tool-name">
            <a:extLst xmlns:a="http://schemas.openxmlformats.org/drawingml/2006/main">
              <a:ext uri="{FF2B5EF4-FFF2-40B4-BE49-F238E27FC236}">
                <a16:creationId xmlns:a16="http://schemas.microsoft.com/office/drawing/2014/main" id="{524600BC-6D73-4B34-B160-F7F835B7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PolarDB + pgvector</a:t>
            </a:r>
          </a:p>
        </p:txBody>
      </p:sp>
      <p:sp>
        <p:nvSpPr>
          <p:cNvPr id="29" name="tool-desc">
            <a:extLst xmlns:a="http://schemas.openxmlformats.org/drawingml/2006/main">
              <a:ext uri="{FF2B5EF4-FFF2-40B4-BE49-F238E27FC236}">
                <a16:creationId xmlns:a16="http://schemas.microsoft.com/office/drawing/2014/main" id="{0E735137-1722-4D4D-A9BC-93A98F5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577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证据账本、案例记忆、向量检索</a:t>
            </a:r>
          </a:p>
        </p:txBody>
      </p:sp>
      <p:sp>
        <p:nvSpPr>
          <p:cNvPr id="30" name="tool-rule">
            <a:extLst xmlns:a="http://schemas.openxmlformats.org/drawingml/2006/main">
              <a:ext uri="{FF2B5EF4-FFF2-40B4-BE49-F238E27FC236}">
                <a16:creationId xmlns:a16="http://schemas.microsoft.com/office/drawing/2014/main" id="{37C6342C-13E3-4C02-A8E9-473B127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31" name="tool-name">
            <a:extLst xmlns:a="http://schemas.openxmlformats.org/drawingml/2006/main">
              <a:ext uri="{FF2B5EF4-FFF2-40B4-BE49-F238E27FC236}">
                <a16:creationId xmlns:a16="http://schemas.microsoft.com/office/drawing/2014/main" id="{469ACCE4-78D7-45EF-8AE7-99F23A2D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RocketMQ + OTel</a:t>
            </a:r>
          </a:p>
        </p:txBody>
      </p:sp>
      <p:sp>
        <p:nvSpPr>
          <p:cNvPr id="32" name="tool-desc">
            <a:extLst xmlns:a="http://schemas.openxmlformats.org/drawingml/2006/main">
              <a:ext uri="{FF2B5EF4-FFF2-40B4-BE49-F238E27FC236}">
                <a16:creationId xmlns:a16="http://schemas.microsoft.com/office/drawing/2014/main" id="{F607FABB-DD92-4944-A882-3DA6213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67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单案顺序消息、全链路语义可观测</a:t>
            </a:r>
          </a:p>
        </p:txBody>
      </p:sp>
      <p:sp>
        <p:nvSpPr>
          <p:cNvPr id="33" name="tool-rule">
            <a:extLst xmlns:a="http://schemas.openxmlformats.org/drawingml/2006/main">
              <a:ext uri="{FF2B5EF4-FFF2-40B4-BE49-F238E27FC236}">
                <a16:creationId xmlns:a16="http://schemas.microsoft.com/office/drawing/2014/main" id="{D03A3547-3C79-4298-9848-EF210CF8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43550"/>
            <a:ext cx="529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AED"/>
            </a:solidFill>
            <a:prstDash val="solid"/>
          </a:ln>
        </p:spPr>
      </p:sp>
      <p:sp>
        <p:nvSpPr>
          <p:cNvPr id="34" name="integration-claim">
            <a:extLst xmlns:a="http://schemas.openxmlformats.org/drawingml/2006/main">
              <a:ext uri="{FF2B5EF4-FFF2-40B4-BE49-F238E27FC236}">
                <a16:creationId xmlns:a16="http://schemas.microsoft.com/office/drawing/2014/main" id="{57AA6B2A-58AE-477F-8636-8CF6A8E3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复用单位是 Schema、权限与验证集，不是某一家厂商的 SDK</a:t>
            </a:r>
          </a:p>
        </p:txBody>
      </p:sp>
      <p:sp>
        <p:nvSpPr>
          <p:cNvPr id="35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DB175EB-FEFD-47EB-A90F-2B1AF61B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5F9318-18DF-49BE-AAAF-7A6BBE5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6844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7815E76-C5DC-4736-929B-2B086E9A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7102E2-22F8-4AE3-8ECF-ED487819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当前提交不是概念稿：关键断言都能被命令复现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84DBF4-814F-4315-9028-FFF5A0F2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2026-08-15 基于当前代码重跑；未覆盖项单独披露，不以“全绿”掩盖空白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548BC1-3A3F-4D5D-9317-6F948C23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ABDEF4A4-56EF-4D8B-BFE3-69820451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861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153A9D4-4E3E-410A-A0F5-3B390C0F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72 / 72</a:t>
            </a:r>
          </a:p>
        </p:txBody>
      </p:sp>
      <p:sp>
        <p:nvSpPr>
          <p:cNvPr id="7" name="metric-name">
            <a:extLst xmlns:a="http://schemas.openxmlformats.org/drawingml/2006/main">
              <a:ext uri="{FF2B5EF4-FFF2-40B4-BE49-F238E27FC236}">
                <a16:creationId xmlns:a16="http://schemas.microsoft.com/office/drawing/2014/main" id="{D58A49FD-56B6-455B-BEB6-75C74F5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安全边界回归</a:t>
            </a:r>
          </a:p>
        </p:txBody>
      </p:sp>
      <p:sp>
        <p:nvSpPr>
          <p:cNvPr id="8" name="metric-desc">
            <a:extLst xmlns:a="http://schemas.openxmlformats.org/drawingml/2006/main">
              <a:ext uri="{FF2B5EF4-FFF2-40B4-BE49-F238E27FC236}">
                <a16:creationId xmlns:a16="http://schemas.microsoft.com/office/drawing/2014/main" id="{8053A1E1-5894-4E24-B56B-769902FF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权限、证据、路由、审批、幂等、回滚</a:t>
            </a:r>
          </a:p>
        </p:txBody>
      </p:sp>
      <p:sp>
        <p:nvSpPr>
          <p:cNvPr id="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128CD80F-5843-4AF5-B30F-03AAF1E4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4861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C2640D2-5449-48E4-8497-0E8F5651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906 / 906</a:t>
            </a:r>
          </a:p>
        </p:txBody>
      </p:sp>
      <p:sp>
        <p:nvSpPr>
          <p:cNvPr id="11" name="metric-name">
            <a:extLst xmlns:a="http://schemas.openxmlformats.org/drawingml/2006/main">
              <a:ext uri="{FF2B5EF4-FFF2-40B4-BE49-F238E27FC236}">
                <a16:creationId xmlns:a16="http://schemas.microsoft.com/office/drawing/2014/main" id="{6D32CC0A-42D0-4669-B27C-435B116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已执行 Skill 用例</a:t>
            </a:r>
          </a:p>
        </p:txBody>
      </p:sp>
      <p:sp>
        <p:nvSpPr>
          <p:cNvPr id="12" name="metric-desc">
            <a:extLst xmlns:a="http://schemas.openxmlformats.org/drawingml/2006/main">
              <a:ext uri="{FF2B5EF4-FFF2-40B4-BE49-F238E27FC236}">
                <a16:creationId xmlns:a16="http://schemas.microsoft.com/office/drawing/2014/main" id="{CFD32FF4-E4CB-434B-B574-7C6650F3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RiskGate 含 865 组全组合遍历</a:t>
            </a:r>
          </a:p>
        </p:txBody>
      </p:sp>
      <p:sp>
        <p:nvSpPr>
          <p:cNvPr id="13" name="metric-card">
            <a:extLst xmlns:a="http://schemas.openxmlformats.org/drawingml/2006/main">
              <a:ext uri="{FF2B5EF4-FFF2-40B4-BE49-F238E27FC236}">
                <a16:creationId xmlns:a16="http://schemas.microsoft.com/office/drawing/2014/main" id="{E3753B98-9DF2-410A-9976-DD59CE97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4861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584E240-F119-403B-9A20-1CD72125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13 / 13</a:t>
            </a:r>
          </a:p>
        </p:txBody>
      </p:sp>
      <p:sp>
        <p:nvSpPr>
          <p:cNvPr id="15" name="metric-name">
            <a:extLst xmlns:a="http://schemas.openxmlformats.org/drawingml/2006/main">
              <a:ext uri="{FF2B5EF4-FFF2-40B4-BE49-F238E27FC236}">
                <a16:creationId xmlns:a16="http://schemas.microsoft.com/office/drawing/2014/main" id="{F1BC3E8F-C85D-4CF1-8441-733DF78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live 故障模式</a:t>
            </a:r>
          </a:p>
        </p:txBody>
      </p:sp>
      <p:sp>
        <p:nvSpPr>
          <p:cNvPr id="16" name="metric-desc">
            <a:extLst xmlns:a="http://schemas.openxmlformats.org/drawingml/2006/main">
              <a:ext uri="{FF2B5EF4-FFF2-40B4-BE49-F238E27FC236}">
                <a16:creationId xmlns:a16="http://schemas.microsoft.com/office/drawing/2014/main" id="{5009F009-DB04-45A9-8063-F583846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302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异常路径恒阻断，写类 MCP 调用为 0</a:t>
            </a:r>
          </a:p>
        </p:txBody>
      </p:sp>
      <p:sp>
        <p:nvSpPr>
          <p:cNvPr id="17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A5433F8C-0B10-4475-839B-17202671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诚实覆盖</a:t>
            </a:r>
          </a:p>
        </p:txBody>
      </p:sp>
      <p:sp>
        <p:nvSpPr>
          <p:cNvPr id="18" name="coverage-gap">
            <a:extLst xmlns:a="http://schemas.openxmlformats.org/drawingml/2006/main">
              <a:ext uri="{FF2B5EF4-FFF2-40B4-BE49-F238E27FC236}">
                <a16:creationId xmlns:a16="http://schemas.microsoft.com/office/drawing/2014/main" id="{C67A68DE-9384-4CD5-BE5D-DC437C2C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1485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8 个 Skill 尚无执行器 → 明确列为“未执行”，不计入通过</a:t>
            </a:r>
          </a:p>
        </p:txBody>
      </p:sp>
      <p:sp>
        <p:nvSpPr>
          <p:cNvPr id="19" name="pit-label">
            <a:extLst xmlns:a="http://schemas.openxmlformats.org/drawingml/2006/main">
              <a:ext uri="{FF2B5EF4-FFF2-40B4-BE49-F238E27FC236}">
                <a16:creationId xmlns:a16="http://schemas.microsoft.com/office/drawing/2014/main" id="{37F26D82-2238-4D01-B642-3B862618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回溯纪律</a:t>
            </a:r>
          </a:p>
        </p:txBody>
      </p:sp>
      <p:sp>
        <p:nvSpPr>
          <p:cNvPr id="20" name="pit-result">
            <a:extLst xmlns:a="http://schemas.openxmlformats.org/drawingml/2006/main">
              <a:ext uri="{FF2B5EF4-FFF2-40B4-BE49-F238E27FC236}">
                <a16:creationId xmlns:a16="http://schemas.microsoft.com/office/drawing/2014/main" id="{E2DD75A5-8D83-4A47-85E4-E385BFCD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CASE-003 时点冻结：全部证据首次公开日 ≤ 2017-04-01；历史结局结构上不可达</a:t>
            </a:r>
          </a:p>
        </p:txBody>
      </p:sp>
      <p:sp>
        <p:nvSpPr>
          <p:cNvPr id="21" name="commands">
            <a:extLst xmlns:a="http://schemas.openxmlformats.org/drawingml/2006/main">
              <a:ext uri="{FF2B5EF4-FFF2-40B4-BE49-F238E27FC236}">
                <a16:creationId xmlns:a16="http://schemas.microsoft.com/office/drawing/2014/main" id="{B3779595-CB52-41E1-ACBE-627687BE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复现命令：poc/test_safety.py · tools/run_evals.py · tools/check_pit.py · tools/live_conformance.py</a:t>
            </a:r>
          </a:p>
        </p:txBody>
      </p:sp>
      <p:sp>
        <p:nvSpPr>
          <p:cNvPr id="2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9CA593E-F11F-4D30-A883-E09DEA40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A8F59F6-A2F2-4109-85D0-5CD05EA4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2074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08F87CB-6D42-42F9-BB9C-C20BB5B5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084F6F-8539-4F80-9F8B-61330ACD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三条链路证明：能确认风险，也能推翻误报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FA00BB-87D9-4DE5-9A80-C5E5F306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相同信号类型，不同个案事实；同一处置动作，不同敞口规模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1A39CA-8467-4722-9D3B-21285A61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00050" y="1828800"/>
          <a:ext xmlns:a="http://schemas.openxmlformats.org/drawingml/2006/main" cx="5143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c3ba967eda492f"/>
          </a:graphicData>
        </a:graphic>
      </p:graphicFrame>
      <p:sp>
        <p:nvSpPr>
          <p:cNvPr id="6" name="case-card">
            <a:extLst xmlns:a="http://schemas.openxmlformats.org/drawingml/2006/main">
              <a:ext uri="{FF2B5EF4-FFF2-40B4-BE49-F238E27FC236}">
                <a16:creationId xmlns:a16="http://schemas.microsoft.com/office/drawing/2014/main" id="{92B43C7D-7079-4CB0-B5E6-B1507D8C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90700"/>
            <a:ext cx="57721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title">
            <a:extLst xmlns:a="http://schemas.openxmlformats.org/drawingml/2006/main">
              <a:ext uri="{FF2B5EF4-FFF2-40B4-BE49-F238E27FC236}">
                <a16:creationId xmlns:a16="http://schemas.microsoft.com/office/drawing/2014/main" id="{09DFAF8E-3153-4EE4-AED0-0E162E3B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A · 风险成立</a:t>
            </a:r>
          </a:p>
        </p:txBody>
      </p:sp>
      <p:sp>
        <p:nvSpPr>
          <p:cNvPr id="8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FA0D71A2-2B2B-4464-AE34-3016924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RISK_CONFIRMED · L2</a:t>
            </a:r>
          </a:p>
        </p:txBody>
      </p:sp>
      <p:sp>
        <p:nvSpPr>
          <p:cNvPr id="9" name="case-desc">
            <a:extLst xmlns:a="http://schemas.openxmlformats.org/drawingml/2006/main">
              <a:ext uri="{FF2B5EF4-FFF2-40B4-BE49-F238E27FC236}">
                <a16:creationId xmlns:a16="http://schemas.microsoft.com/office/drawing/2014/main" id="{F9E25047-807D-4A9E-830C-8E66438F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620 万敞口：审批后压降 30% + 追加担保</a:t>
            </a:r>
          </a:p>
        </p:txBody>
      </p:sp>
      <p:sp>
        <p:nvSpPr>
          <p:cNvPr id="10" name="case-card">
            <a:extLst xmlns:a="http://schemas.openxmlformats.org/drawingml/2006/main">
              <a:ext uri="{FF2B5EF4-FFF2-40B4-BE49-F238E27FC236}">
                <a16:creationId xmlns:a16="http://schemas.microsoft.com/office/drawing/2014/main" id="{703ACE9A-76DA-4CAA-9FE8-ACF2112C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57721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se-title">
            <a:extLst xmlns:a="http://schemas.openxmlformats.org/drawingml/2006/main">
              <a:ext uri="{FF2B5EF4-FFF2-40B4-BE49-F238E27FC236}">
                <a16:creationId xmlns:a16="http://schemas.microsoft.com/office/drawing/2014/main" id="{0AF88D7F-C0CF-490E-A0F1-EB729DE2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B · 误报翻案</a:t>
            </a:r>
          </a:p>
        </p:txBody>
      </p:sp>
      <p:sp>
        <p:nvSpPr>
          <p:cNvPr id="12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7876B597-2DC3-429A-AF7A-40C973A9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9E7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9E76"/>
                </a:solidFill>
                <a:latin typeface="PingFang SC"/>
                <a:ea typeface="PingFang SC"/>
                <a:cs typeface="PingFang SC"/>
              </a:rPr>
              <a:t>RISK_REFUTED · L0</a:t>
            </a:r>
          </a:p>
        </p:txBody>
      </p:sp>
      <p:sp>
        <p:nvSpPr>
          <p:cNvPr id="13" name="case-desc">
            <a:extLst xmlns:a="http://schemas.openxmlformats.org/drawingml/2006/main">
              <a:ext uri="{FF2B5EF4-FFF2-40B4-BE49-F238E27FC236}">
                <a16:creationId xmlns:a16="http://schemas.microsoft.com/office/drawing/2014/main" id="{36A2FBEB-D34C-4066-B568-42AD7399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同类涉诉 / 转出 / 法代变更，被个案证据逐条推翻</a:t>
            </a:r>
          </a:p>
        </p:txBody>
      </p:sp>
      <p:sp>
        <p:nvSpPr>
          <p:cNvPr id="14" name="case-card">
            <a:extLst xmlns:a="http://schemas.openxmlformats.org/drawingml/2006/main">
              <a:ext uri="{FF2B5EF4-FFF2-40B4-BE49-F238E27FC236}">
                <a16:creationId xmlns:a16="http://schemas.microsoft.com/office/drawing/2014/main" id="{FC174FB4-7F5A-4D6B-A58D-7881938F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9600"/>
            <a:ext cx="57721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title">
            <a:extLst xmlns:a="http://schemas.openxmlformats.org/drawingml/2006/main">
              <a:ext uri="{FF2B5EF4-FFF2-40B4-BE49-F238E27FC236}">
                <a16:creationId xmlns:a16="http://schemas.microsoft.com/office/drawing/2014/main" id="{12D1447A-2EA1-4A0F-A229-56BFBFF5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 · 历史回溯</a:t>
            </a:r>
          </a:p>
        </p:txBody>
      </p:sp>
      <p:sp>
        <p:nvSpPr>
          <p:cNvPr id="16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40575BFF-9788-44C6-9969-89B264DD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72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RISK_CONFIRMED · L3</a:t>
            </a:r>
          </a:p>
        </p:txBody>
      </p:sp>
      <p:sp>
        <p:nvSpPr>
          <p:cNvPr id="17" name="case-desc">
            <a:extLst xmlns:a="http://schemas.openxmlformats.org/drawingml/2006/main">
              <a:ext uri="{FF2B5EF4-FFF2-40B4-BE49-F238E27FC236}">
                <a16:creationId xmlns:a16="http://schemas.microsoft.com/office/drawing/2014/main" id="{260CBB63-88B8-4AC7-8756-AEE95699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6.5 亿直接敞口：只出方案，不派执行方</a:t>
            </a:r>
          </a:p>
        </p:txBody>
      </p:sp>
      <p:sp>
        <p:nvSpPr>
          <p:cNvPr id="18" name="case-claim">
            <a:extLst xmlns:a="http://schemas.openxmlformats.org/drawingml/2006/main">
              <a:ext uri="{FF2B5EF4-FFF2-40B4-BE49-F238E27FC236}">
                <a16:creationId xmlns:a16="http://schemas.microsoft.com/office/drawing/2014/main" id="{69205019-D5C8-414A-8711-9B042538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链路 B 才是难点：敢说“这不是风险”，才能减少抽贷断贷式误杀</a:t>
            </a:r>
          </a:p>
        </p:txBody>
      </p:sp>
      <p:sp>
        <p:nvSpPr>
          <p:cNvPr id="1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004CC6A-BE60-4585-A1E5-589D9092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9108B2-3143-4608-94C3-A4CE95CB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16929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7FBC7E2-7EA9-4B78-9A6B-110BC072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E3EC38-064A-433B-B359-833681B9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PoC 已可运行，生产化只替换基础设施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A5BB1D8-B52A-4B53-8957-822A9AB8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Mock 与真实系统零 Schema 差异；stub 与 live 共用同一输出契约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16A798F-A947-48C1-AAD3-9167559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done-label">
            <a:extLst xmlns:a="http://schemas.openxmlformats.org/drawingml/2006/main">
              <a:ext uri="{FF2B5EF4-FFF2-40B4-BE49-F238E27FC236}">
                <a16:creationId xmlns:a16="http://schemas.microsoft.com/office/drawing/2014/main" id="{F164AFF6-68F1-439C-95D9-584DCC01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当前已完成</a:t>
            </a:r>
          </a:p>
        </p:txBody>
      </p:sp>
      <p:sp>
        <p:nvSpPr>
          <p:cNvPr id="6" name="done-panel">
            <a:extLst xmlns:a="http://schemas.openxmlformats.org/drawingml/2006/main">
              <a:ext uri="{FF2B5EF4-FFF2-40B4-BE49-F238E27FC236}">
                <a16:creationId xmlns:a16="http://schemas.microsoft.com/office/drawing/2014/main" id="{094BA536-EE52-4A78-8076-8FC00ACC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2197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ne-check">
            <a:extLst xmlns:a="http://schemas.openxmlformats.org/drawingml/2006/main">
              <a:ext uri="{FF2B5EF4-FFF2-40B4-BE49-F238E27FC236}">
                <a16:creationId xmlns:a16="http://schemas.microsoft.com/office/drawing/2014/main" id="{DD9483B1-852A-46E3-A3CC-E416326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8" name="done-item">
            <a:extLst xmlns:a="http://schemas.openxmlformats.org/drawingml/2006/main">
              <a:ext uri="{FF2B5EF4-FFF2-40B4-BE49-F238E27FC236}">
                <a16:creationId xmlns:a16="http://schemas.microsoft.com/office/drawing/2014/main" id="{8BBC41EE-58A4-421B-B049-FEC8BBE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零第三方依赖，本机一条命令运行三条链路</a:t>
            </a:r>
          </a:p>
        </p:txBody>
      </p:sp>
      <p:sp>
        <p:nvSpPr>
          <p:cNvPr id="9" name="done-check">
            <a:extLst xmlns:a="http://schemas.openxmlformats.org/drawingml/2006/main">
              <a:ext uri="{FF2B5EF4-FFF2-40B4-BE49-F238E27FC236}">
                <a16:creationId xmlns:a16="http://schemas.microsoft.com/office/drawing/2014/main" id="{582587B8-F977-4BAA-B21A-9E385F1C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0" name="done-item">
            <a:extLst xmlns:a="http://schemas.openxmlformats.org/drawingml/2006/main">
              <a:ext uri="{FF2B5EF4-FFF2-40B4-BE49-F238E27FC236}">
                <a16:creationId xmlns:a16="http://schemas.microsoft.com/office/drawing/2014/main" id="{32E549A7-2585-4897-B6D4-FE5AE545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工作台 / CLI 共用同一业务代码与产出</a:t>
            </a:r>
          </a:p>
        </p:txBody>
      </p:sp>
      <p:sp>
        <p:nvSpPr>
          <p:cNvPr id="11" name="done-check">
            <a:extLst xmlns:a="http://schemas.openxmlformats.org/drawingml/2006/main">
              <a:ext uri="{FF2B5EF4-FFF2-40B4-BE49-F238E27FC236}">
                <a16:creationId xmlns:a16="http://schemas.microsoft.com/office/drawing/2014/main" id="{097486A5-04B4-491F-B18F-5B77543F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2" name="done-item">
            <a:extLst xmlns:a="http://schemas.openxmlformats.org/drawingml/2006/main">
              <a:ext uri="{FF2B5EF4-FFF2-40B4-BE49-F238E27FC236}">
                <a16:creationId xmlns:a16="http://schemas.microsoft.com/office/drawing/2014/main" id="{C6D491CC-7C1A-47AE-BBDE-BBC6DB7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OpenAI 兼容 live 后端 + 四层模型配置</a:t>
            </a:r>
          </a:p>
        </p:txBody>
      </p:sp>
      <p:sp>
        <p:nvSpPr>
          <p:cNvPr id="13" name="done-check">
            <a:extLst xmlns:a="http://schemas.openxmlformats.org/drawingml/2006/main">
              <a:ext uri="{FF2B5EF4-FFF2-40B4-BE49-F238E27FC236}">
                <a16:creationId xmlns:a16="http://schemas.microsoft.com/office/drawing/2014/main" id="{6D73E7BF-A26F-412D-8C4F-8D11810A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4" name="done-item">
            <a:extLst xmlns:a="http://schemas.openxmlformats.org/drawingml/2006/main">
              <a:ext uri="{FF2B5EF4-FFF2-40B4-BE49-F238E27FC236}">
                <a16:creationId xmlns:a16="http://schemas.microsoft.com/office/drawing/2014/main" id="{53F9EE8F-EFC3-4AB9-98E7-B4BC089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4 个进程内 MCP，权限、审计、重试均真实执行</a:t>
            </a:r>
          </a:p>
        </p:txBody>
      </p:sp>
      <p:sp>
        <p:nvSpPr>
          <p:cNvPr id="15" name="done-check">
            <a:extLst xmlns:a="http://schemas.openxmlformats.org/drawingml/2006/main">
              <a:ext uri="{FF2B5EF4-FFF2-40B4-BE49-F238E27FC236}">
                <a16:creationId xmlns:a16="http://schemas.microsoft.com/office/drawing/2014/main" id="{0D99EF07-0B60-4C4F-8F6D-D8A3921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2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9E7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6" name="done-item">
            <a:extLst xmlns:a="http://schemas.openxmlformats.org/drawingml/2006/main">
              <a:ext uri="{FF2B5EF4-FFF2-40B4-BE49-F238E27FC236}">
                <a16:creationId xmlns:a16="http://schemas.microsoft.com/office/drawing/2014/main" id="{EA222295-B26B-4165-9102-6153FEED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SSE 审批回调、幂等、回滚、证据哈希与 Trace</a:t>
            </a:r>
          </a:p>
        </p:txBody>
      </p:sp>
      <p:sp>
        <p:nvSpPr>
          <p:cNvPr id="17" name="next-label">
            <a:extLst xmlns:a="http://schemas.openxmlformats.org/drawingml/2006/main">
              <a:ext uri="{FF2B5EF4-FFF2-40B4-BE49-F238E27FC236}">
                <a16:creationId xmlns:a16="http://schemas.microsoft.com/office/drawing/2014/main" id="{8E05C15E-5A11-4261-8DA1-427BB1D0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复赛生产化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29C1E5A8-9779-45AC-9A12-0F9A6AB3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6007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ext-no">
            <a:extLst xmlns:a="http://schemas.openxmlformats.org/drawingml/2006/main">
              <a:ext uri="{FF2B5EF4-FFF2-40B4-BE49-F238E27FC236}">
                <a16:creationId xmlns:a16="http://schemas.microsoft.com/office/drawing/2014/main" id="{F1027216-DDEC-4880-91DE-EB852FCA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0" name="next-title">
            <a:extLst xmlns:a="http://schemas.openxmlformats.org/drawingml/2006/main">
              <a:ext uri="{FF2B5EF4-FFF2-40B4-BE49-F238E27FC236}">
                <a16:creationId xmlns:a16="http://schemas.microsoft.com/office/drawing/2014/main" id="{6B6B81B3-46E9-408E-8B26-67AD0D20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MCP over HTTP + sop-router</a:t>
            </a:r>
          </a:p>
        </p:txBody>
      </p:sp>
      <p:sp>
        <p:nvSpPr>
          <p:cNvPr id="21" name="next-desc">
            <a:extLst xmlns:a="http://schemas.openxmlformats.org/drawingml/2006/main">
              <a:ext uri="{FF2B5EF4-FFF2-40B4-BE49-F238E27FC236}">
                <a16:creationId xmlns:a16="http://schemas.microsoft.com/office/drawing/2014/main" id="{71D14A3C-71A3-4FDE-9AF8-86C5EE92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把工具级权限下沉到网关与服务端</a:t>
            </a:r>
          </a:p>
        </p:txBody>
      </p:sp>
      <p:sp>
        <p:nvSpPr>
          <p:cNvPr id="22" name="next-no">
            <a:extLst xmlns:a="http://schemas.openxmlformats.org/drawingml/2006/main">
              <a:ext uri="{FF2B5EF4-FFF2-40B4-BE49-F238E27FC236}">
                <a16:creationId xmlns:a16="http://schemas.microsoft.com/office/drawing/2014/main" id="{41A00AA4-D297-4FCA-B400-457220AF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next-title">
            <a:extLst xmlns:a="http://schemas.openxmlformats.org/drawingml/2006/main">
              <a:ext uri="{FF2B5EF4-FFF2-40B4-BE49-F238E27FC236}">
                <a16:creationId xmlns:a16="http://schemas.microsoft.com/office/drawing/2014/main" id="{402C9086-6816-4457-8B7F-9E5C6F0E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480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Higress + Nacos</a:t>
            </a:r>
          </a:p>
        </p:txBody>
      </p:sp>
      <p:sp>
        <p:nvSpPr>
          <p:cNvPr id="24" name="next-desc">
            <a:extLst xmlns:a="http://schemas.openxmlformats.org/drawingml/2006/main">
              <a:ext uri="{FF2B5EF4-FFF2-40B4-BE49-F238E27FC236}">
                <a16:creationId xmlns:a16="http://schemas.microsoft.com/office/drawing/2014/main" id="{4F9C1D5A-4F8E-4200-A0B2-31282A1C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PII 脱敏、consumer 身份、真实灰度回滚</a:t>
            </a:r>
          </a:p>
        </p:txBody>
      </p:sp>
      <p:sp>
        <p:nvSpPr>
          <p:cNvPr id="25" name="next-no">
            <a:extLst xmlns:a="http://schemas.openxmlformats.org/drawingml/2006/main">
              <a:ext uri="{FF2B5EF4-FFF2-40B4-BE49-F238E27FC236}">
                <a16:creationId xmlns:a16="http://schemas.microsoft.com/office/drawing/2014/main" id="{1E9CD6C0-4BE2-4685-9B43-2EF6F272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6" name="next-title">
            <a:extLst xmlns:a="http://schemas.openxmlformats.org/drawingml/2006/main">
              <a:ext uri="{FF2B5EF4-FFF2-40B4-BE49-F238E27FC236}">
                <a16:creationId xmlns:a16="http://schemas.microsoft.com/office/drawing/2014/main" id="{DE74AB6D-1310-4E04-B217-438F3337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528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PolarDB / RocketMQ / OTel</a:t>
            </a:r>
          </a:p>
        </p:txBody>
      </p:sp>
      <p:sp>
        <p:nvSpPr>
          <p:cNvPr id="27" name="next-desc">
            <a:extLst xmlns:a="http://schemas.openxmlformats.org/drawingml/2006/main">
              <a:ext uri="{FF2B5EF4-FFF2-40B4-BE49-F238E27FC236}">
                <a16:creationId xmlns:a16="http://schemas.microsoft.com/office/drawing/2014/main" id="{0146935D-0165-4D4A-82DC-148BC7D4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持久化、并发顺序、语义可观测</a:t>
            </a:r>
          </a:p>
        </p:txBody>
      </p:sp>
      <p:sp>
        <p:nvSpPr>
          <p:cNvPr id="28" name="next-no">
            <a:extLst xmlns:a="http://schemas.openxmlformats.org/drawingml/2006/main">
              <a:ext uri="{FF2B5EF4-FFF2-40B4-BE49-F238E27FC236}">
                <a16:creationId xmlns:a16="http://schemas.microsoft.com/office/drawing/2014/main" id="{6FC4ED49-6656-404F-BDD4-73388D14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9" name="next-title">
            <a:extLst xmlns:a="http://schemas.openxmlformats.org/drawingml/2006/main">
              <a:ext uri="{FF2B5EF4-FFF2-40B4-BE49-F238E27FC236}">
                <a16:creationId xmlns:a16="http://schemas.microsoft.com/office/drawing/2014/main" id="{9F61EC48-2F90-48D3-9026-45B6050E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5770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行内沙箱与标注集</a:t>
            </a:r>
          </a:p>
        </p:txBody>
      </p:sp>
      <p:sp>
        <p:nvSpPr>
          <p:cNvPr id="30" name="next-desc">
            <a:extLst xmlns:a="http://schemas.openxmlformats.org/drawingml/2006/main">
              <a:ext uri="{FF2B5EF4-FFF2-40B4-BE49-F238E27FC236}">
                <a16:creationId xmlns:a16="http://schemas.microsoft.com/office/drawing/2014/main" id="{675D026F-8458-4C56-BCF0-F718B811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57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AE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8EAED"/>
                </a:solidFill>
                <a:latin typeface="PingFang SC"/>
                <a:ea typeface="PingFang SC"/>
                <a:cs typeface="PingFang SC"/>
              </a:rPr>
              <a:t>接真实脱敏数据，完成阈值标定与对照实验</a:t>
            </a:r>
          </a:p>
        </p:txBody>
      </p:sp>
      <p:sp>
        <p:nvSpPr>
          <p:cNvPr id="31" name="boundary-honesty">
            <a:extLst xmlns:a="http://schemas.openxmlformats.org/drawingml/2006/main">
              <a:ext uri="{FF2B5EF4-FFF2-40B4-BE49-F238E27FC236}">
                <a16:creationId xmlns:a16="http://schemas.microsoft.com/office/drawing/2014/main" id="{494A7D3F-3164-4438-8DBA-02AFDC4F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505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65050"/>
                </a:solidFill>
                <a:latin typeface="PingFang SC"/>
                <a:ea typeface="PingFang SC"/>
                <a:cs typeface="PingFang SC"/>
              </a:rPr>
              <a:t>边界坦白：当前 4 个 MCP 仍为 Mock；真实云端与行内系统接入尚待复赛验证</a:t>
            </a:r>
          </a:p>
        </p:txBody>
      </p:sp>
      <p:sp>
        <p:nvSpPr>
          <p:cNvPr id="3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3F17D8D-39D1-438B-8528-1C5E1139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140E52-1B84-4A35-A5A1-24985D50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910953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4FC6F84-F680-495F-89AA-0F76519D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AB5812-BD3E-41B5-BD83-CD65CA7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12 周投产路线：先控制面，再数据标定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C4D3C4-1EA1-42D7-9F62-B039E84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每一阶段都有可复核出口，不以“模型更强”作为唯一完成条件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23D18F-5DA1-4235-9181-76125146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8FB18A97-A5EF-4BDC-B387-64B4FA2B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D10"/>
            </a:solidFill>
            <a:prstDash val="solid"/>
          </a:ln>
        </p:spPr>
      </p:sp>
      <p:sp>
        <p:nvSpPr>
          <p:cNvPr id="6" name="road-dot">
            <a:extLst xmlns:a="http://schemas.openxmlformats.org/drawingml/2006/main">
              <a:ext uri="{FF2B5EF4-FFF2-40B4-BE49-F238E27FC236}">
                <a16:creationId xmlns:a16="http://schemas.microsoft.com/office/drawing/2014/main" id="{31CE22EC-C713-47C1-A5BD-EAC4F814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-week">
            <a:extLst xmlns:a="http://schemas.openxmlformats.org/drawingml/2006/main">
              <a:ext uri="{FF2B5EF4-FFF2-40B4-BE49-F238E27FC236}">
                <a16:creationId xmlns:a16="http://schemas.microsoft.com/office/drawing/2014/main" id="{6CD74862-ACF1-4989-82F9-199632C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W1-2</a:t>
            </a:r>
          </a:p>
        </p:txBody>
      </p:sp>
      <p:sp>
        <p:nvSpPr>
          <p:cNvPr id="8" name="road-title">
            <a:extLst xmlns:a="http://schemas.openxmlformats.org/drawingml/2006/main">
              <a:ext uri="{FF2B5EF4-FFF2-40B4-BE49-F238E27FC236}">
                <a16:creationId xmlns:a16="http://schemas.microsoft.com/office/drawing/2014/main" id="{092077E6-6514-46D9-9E61-CF676F2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可信真机</a:t>
            </a:r>
          </a:p>
        </p:txBody>
      </p:sp>
      <p:sp>
        <p:nvSpPr>
          <p:cNvPr id="9" name="road-body">
            <a:extLst xmlns:a="http://schemas.openxmlformats.org/drawingml/2006/main">
              <a:ext uri="{FF2B5EF4-FFF2-40B4-BE49-F238E27FC236}">
                <a16:creationId xmlns:a16="http://schemas.microsoft.com/office/drawing/2014/main" id="{E6257F45-6B55-4DB1-918C-C76C2472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400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CR / CRD 修正</a:t>
            </a:r>
          </a:p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HTTP MCP + 权限下沉</a:t>
            </a:r>
          </a:p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OTLP Trace</a:t>
            </a:r>
          </a:p>
        </p:txBody>
      </p:sp>
      <p:sp>
        <p:nvSpPr>
          <p:cNvPr id="10" name="road-dot">
            <a:extLst xmlns:a="http://schemas.openxmlformats.org/drawingml/2006/main">
              <a:ext uri="{FF2B5EF4-FFF2-40B4-BE49-F238E27FC236}">
                <a16:creationId xmlns:a16="http://schemas.microsoft.com/office/drawing/2014/main" id="{4E39ED8C-40DB-4F8B-A86F-77FB82DE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ad-week">
            <a:extLst xmlns:a="http://schemas.openxmlformats.org/drawingml/2006/main">
              <a:ext uri="{FF2B5EF4-FFF2-40B4-BE49-F238E27FC236}">
                <a16:creationId xmlns:a16="http://schemas.microsoft.com/office/drawing/2014/main" id="{94E418BF-3CAE-4EBB-A837-AF22EC69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38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W3-6</a:t>
            </a:r>
          </a:p>
        </p:txBody>
      </p:sp>
      <p:sp>
        <p:nvSpPr>
          <p:cNvPr id="12" name="road-title">
            <a:extLst xmlns:a="http://schemas.openxmlformats.org/drawingml/2006/main">
              <a:ext uri="{FF2B5EF4-FFF2-40B4-BE49-F238E27FC236}">
                <a16:creationId xmlns:a16="http://schemas.microsoft.com/office/drawing/2014/main" id="{BDFD9FBD-9100-435E-91E1-656CBA01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行内沙箱</a:t>
            </a:r>
          </a:p>
        </p:txBody>
      </p:sp>
      <p:sp>
        <p:nvSpPr>
          <p:cNvPr id="13" name="road-body">
            <a:extLst xmlns:a="http://schemas.openxmlformats.org/drawingml/2006/main">
              <a:ext uri="{FF2B5EF4-FFF2-40B4-BE49-F238E27FC236}">
                <a16:creationId xmlns:a16="http://schemas.microsoft.com/office/drawing/2014/main" id="{33C25505-745B-4772-BB44-6C81F63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81400"/>
            <a:ext cx="2400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真实脱敏数据接入</a:t>
            </a:r>
          </a:p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Nacos 灰度回滚</a:t>
            </a:r>
          </a:p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Higress 脱敏验证</a:t>
            </a:r>
          </a:p>
        </p:txBody>
      </p:sp>
      <p:sp>
        <p:nvSpPr>
          <p:cNvPr id="14" name="road-dot">
            <a:extLst xmlns:a="http://schemas.openxmlformats.org/drawingml/2006/main">
              <a:ext uri="{FF2B5EF4-FFF2-40B4-BE49-F238E27FC236}">
                <a16:creationId xmlns:a16="http://schemas.microsoft.com/office/drawing/2014/main" id="{AD868A51-40B1-4E95-A514-109A2B0F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ad-week">
            <a:extLst xmlns:a="http://schemas.openxmlformats.org/drawingml/2006/main">
              <a:ext uri="{FF2B5EF4-FFF2-40B4-BE49-F238E27FC236}">
                <a16:creationId xmlns:a16="http://schemas.microsoft.com/office/drawing/2014/main" id="{551195D9-007F-4A81-90E0-D14E5276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W7-10</a:t>
            </a:r>
          </a:p>
        </p:txBody>
      </p:sp>
      <p:sp>
        <p:nvSpPr>
          <p:cNvPr id="16" name="road-title">
            <a:extLst xmlns:a="http://schemas.openxmlformats.org/drawingml/2006/main">
              <a:ext uri="{FF2B5EF4-FFF2-40B4-BE49-F238E27FC236}">
                <a16:creationId xmlns:a16="http://schemas.microsoft.com/office/drawing/2014/main" id="{6F9511D4-AEB0-45F0-A60D-4BD8952A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评估标定</a:t>
            </a:r>
          </a:p>
        </p:txBody>
      </p:sp>
      <p:sp>
        <p:nvSpPr>
          <p:cNvPr id="17" name="road-body">
            <a:extLst xmlns:a="http://schemas.openxmlformats.org/drawingml/2006/main">
              <a:ext uri="{FF2B5EF4-FFF2-40B4-BE49-F238E27FC236}">
                <a16:creationId xmlns:a16="http://schemas.microsoft.com/office/drawing/2014/main" id="{F39EF35E-DB20-4BFD-A534-9EAA46A7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2400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100+ 标注案例</a:t>
            </a:r>
          </a:p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误报陷阱对照集</a:t>
            </a:r>
          </a:p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分层阈值标定</a:t>
            </a:r>
          </a:p>
        </p:txBody>
      </p:sp>
      <p:sp>
        <p:nvSpPr>
          <p:cNvPr id="18" name="road-dot">
            <a:extLst xmlns:a="http://schemas.openxmlformats.org/drawingml/2006/main">
              <a:ext uri="{FF2B5EF4-FFF2-40B4-BE49-F238E27FC236}">
                <a16:creationId xmlns:a16="http://schemas.microsoft.com/office/drawing/2014/main" id="{E0B01EDC-FFB6-43E2-9B74-D0B70C3C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ad-week">
            <a:extLst xmlns:a="http://schemas.openxmlformats.org/drawingml/2006/main">
              <a:ext uri="{FF2B5EF4-FFF2-40B4-BE49-F238E27FC236}">
                <a16:creationId xmlns:a16="http://schemas.microsoft.com/office/drawing/2014/main" id="{D00264D7-0BC2-471C-AC4A-746001EB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W11-12</a:t>
            </a:r>
          </a:p>
        </p:txBody>
      </p:sp>
      <p:sp>
        <p:nvSpPr>
          <p:cNvPr id="20" name="road-title">
            <a:extLst xmlns:a="http://schemas.openxmlformats.org/drawingml/2006/main">
              <a:ext uri="{FF2B5EF4-FFF2-40B4-BE49-F238E27FC236}">
                <a16:creationId xmlns:a16="http://schemas.microsoft.com/office/drawing/2014/main" id="{04B88067-68AC-4458-9248-5CC3CC91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生产验收</a:t>
            </a:r>
          </a:p>
        </p:txBody>
      </p:sp>
      <p:sp>
        <p:nvSpPr>
          <p:cNvPr id="21" name="road-body">
            <a:extLst xmlns:a="http://schemas.openxmlformats.org/drawingml/2006/main">
              <a:ext uri="{FF2B5EF4-FFF2-40B4-BE49-F238E27FC236}">
                <a16:creationId xmlns:a16="http://schemas.microsoft.com/office/drawing/2014/main" id="{BD06280F-F4B5-403F-94F6-B73926B6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81400"/>
            <a:ext cx="2400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并发 / 容灾 / 回滚</a:t>
            </a:r>
          </a:p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安全红队</a:t>
            </a:r>
          </a:p>
          <a:p xmlns:a="http://schemas.openxmlformats.org/drawingml/2006/main">
            <a:pPr algn="l">
              <a:def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审计签收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BD392E6-637A-4B8D-86B4-44EA25E3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验收指标</a:t>
            </a:r>
          </a:p>
        </p:txBody>
      </p:sp>
      <p:sp>
        <p:nvSpPr>
          <p:cNvPr id="23" name="acceptance-metric">
            <a:extLst xmlns:a="http://schemas.openxmlformats.org/drawingml/2006/main">
              <a:ext uri="{FF2B5EF4-FFF2-40B4-BE49-F238E27FC236}">
                <a16:creationId xmlns:a16="http://schemas.microsoft.com/office/drawing/2014/main" id="{97AD9F55-BB04-4AB9-86F1-9DD350EE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911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风控：误报 / 漏报 / 因子翻转率</a:t>
            </a:r>
          </a:p>
        </p:txBody>
      </p:sp>
      <p:sp>
        <p:nvSpPr>
          <p:cNvPr id="24" name="acceptance-metric">
            <a:extLst xmlns:a="http://schemas.openxmlformats.org/drawingml/2006/main">
              <a:ext uri="{FF2B5EF4-FFF2-40B4-BE49-F238E27FC236}">
                <a16:creationId xmlns:a16="http://schemas.microsoft.com/office/drawing/2014/main" id="{F7491B40-DDA7-4950-86AF-A313B35B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911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安全：越权拦截率、L3 写调用=0</a:t>
            </a:r>
          </a:p>
        </p:txBody>
      </p:sp>
      <p:sp>
        <p:nvSpPr>
          <p:cNvPr id="25" name="acceptance-metric">
            <a:extLst xmlns:a="http://schemas.openxmlformats.org/drawingml/2006/main">
              <a:ext uri="{FF2B5EF4-FFF2-40B4-BE49-F238E27FC236}">
                <a16:creationId xmlns:a16="http://schemas.microsoft.com/office/drawing/2014/main" id="{25C34273-04CF-4982-BC1C-EE17F1C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911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质量：证据覆盖、无支撑结论=0</a:t>
            </a:r>
          </a:p>
        </p:txBody>
      </p:sp>
      <p:sp>
        <p:nvSpPr>
          <p:cNvPr id="26" name="acceptance-metric">
            <a:extLst xmlns:a="http://schemas.openxmlformats.org/drawingml/2006/main">
              <a:ext uri="{FF2B5EF4-FFF2-40B4-BE49-F238E27FC236}">
                <a16:creationId xmlns:a16="http://schemas.microsoft.com/office/drawing/2014/main" id="{BADF8E25-6146-4CAB-B39B-80ADB017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911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工程：时延、成本、工具成功率、回滚恢复</a:t>
            </a:r>
          </a:p>
        </p:txBody>
      </p:sp>
      <p:sp>
        <p:nvSpPr>
          <p:cNvPr id="27" name="release-gate">
            <a:extLst xmlns:a="http://schemas.openxmlformats.org/drawingml/2006/main">
              <a:ext uri="{FF2B5EF4-FFF2-40B4-BE49-F238E27FC236}">
                <a16:creationId xmlns:a16="http://schemas.microsoft.com/office/drawing/2014/main" id="{914C8727-9683-47AA-A44A-EDE0673C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505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65050"/>
                </a:solidFill>
                <a:latin typeface="PingFang SC"/>
                <a:ea typeface="PingFang SC"/>
                <a:cs typeface="PingFang SC"/>
              </a:rPr>
              <a:t>发布门禁：安全不变量与已接执行器的 Skill 必须全绿，才允许灰度</a:t>
            </a:r>
          </a:p>
        </p:txBody>
      </p:sp>
      <p:sp>
        <p:nvSpPr>
          <p:cNvPr id="28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BD1B748-7010-45B0-815F-12C24C68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089AB7-B4B2-4C44-93F7-D1F1CC88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096545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00137E7-0525-4D1F-B930-FAB62F44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C1DD84-9096-46B3-81E6-141ABE4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开源可复用资产，严守数据与自动执行边界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AF66C9-1162-48A2-853B-52995722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334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开源的是控制方法、接口契约与验证资产，不公开真实客户数据与生产凭证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3739E7E-1A84-4DAE-867A-69EEA681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open-label">
            <a:extLst xmlns:a="http://schemas.openxmlformats.org/drawingml/2006/main">
              <a:ext uri="{FF2B5EF4-FFF2-40B4-BE49-F238E27FC236}">
                <a16:creationId xmlns:a16="http://schemas.microsoft.com/office/drawing/2014/main" id="{458CEACF-4CA2-4605-BDB7-2377A07D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计划开放 / 开源</a:t>
            </a:r>
          </a:p>
        </p:txBody>
      </p:sp>
      <p:sp>
        <p:nvSpPr>
          <p:cNvPr id="6" name="open-no">
            <a:extLst xmlns:a="http://schemas.openxmlformats.org/drawingml/2006/main">
              <a:ext uri="{FF2B5EF4-FFF2-40B4-BE49-F238E27FC236}">
                <a16:creationId xmlns:a16="http://schemas.microsoft.com/office/drawing/2014/main" id="{84AD139D-C681-4268-B036-7B810846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open-title">
            <a:extLst xmlns:a="http://schemas.openxmlformats.org/drawingml/2006/main">
              <a:ext uri="{FF2B5EF4-FFF2-40B4-BE49-F238E27FC236}">
                <a16:creationId xmlns:a16="http://schemas.microsoft.com/office/drawing/2014/main" id="{8728D076-B730-48F5-BEDE-AF41D4B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Agent 拆分法则</a:t>
            </a:r>
          </a:p>
        </p:txBody>
      </p:sp>
      <p:sp>
        <p:nvSpPr>
          <p:cNvPr id="8" name="open-desc">
            <a:extLst xmlns:a="http://schemas.openxmlformats.org/drawingml/2006/main">
              <a:ext uri="{FF2B5EF4-FFF2-40B4-BE49-F238E27FC236}">
                <a16:creationId xmlns:a16="http://schemas.microsoft.com/office/drawing/2014/main" id="{D457C682-50C8-4770-8FF9-AF365D13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权限等价类 + 目标对立的可证伪方法</a:t>
            </a:r>
          </a:p>
        </p:txBody>
      </p:sp>
      <p:sp>
        <p:nvSpPr>
          <p:cNvPr id="9" name="open-no">
            <a:extLst xmlns:a="http://schemas.openxmlformats.org/drawingml/2006/main">
              <a:ext uri="{FF2B5EF4-FFF2-40B4-BE49-F238E27FC236}">
                <a16:creationId xmlns:a16="http://schemas.microsoft.com/office/drawing/2014/main" id="{5D79B423-C99A-45EF-A08C-888D1AE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open-title">
            <a:extLst xmlns:a="http://schemas.openxmlformats.org/drawingml/2006/main">
              <a:ext uri="{FF2B5EF4-FFF2-40B4-BE49-F238E27FC236}">
                <a16:creationId xmlns:a16="http://schemas.microsoft.com/office/drawing/2014/main" id="{3ACBC998-DA21-480B-AEC2-F1D35391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CreditSkill Spec + 16 Skills</a:t>
            </a:r>
          </a:p>
        </p:txBody>
      </p:sp>
      <p:sp>
        <p:nvSpPr>
          <p:cNvPr id="11" name="open-desc">
            <a:extLst xmlns:a="http://schemas.openxmlformats.org/drawingml/2006/main">
              <a:ext uri="{FF2B5EF4-FFF2-40B4-BE49-F238E27FC236}">
                <a16:creationId xmlns:a16="http://schemas.microsoft.com/office/drawing/2014/main" id="{7F5CC3DA-72F3-4106-B7D2-8CB6C275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52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版本、Schema、权限、失败策略、评估集</a:t>
            </a:r>
          </a:p>
        </p:txBody>
      </p:sp>
      <p:sp>
        <p:nvSpPr>
          <p:cNvPr id="12" name="open-no">
            <a:extLst xmlns:a="http://schemas.openxmlformats.org/drawingml/2006/main">
              <a:ext uri="{FF2B5EF4-FFF2-40B4-BE49-F238E27FC236}">
                <a16:creationId xmlns:a16="http://schemas.microsoft.com/office/drawing/2014/main" id="{4807560D-77AD-488E-8568-D9652906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open-title">
            <a:extLst xmlns:a="http://schemas.openxmlformats.org/drawingml/2006/main">
              <a:ext uri="{FF2B5EF4-FFF2-40B4-BE49-F238E27FC236}">
                <a16:creationId xmlns:a16="http://schemas.microsoft.com/office/drawing/2014/main" id="{B5F7609B-C3A1-42E3-A8BB-48482635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RiskGate + Evidence Ledger</a:t>
            </a:r>
          </a:p>
        </p:txBody>
      </p:sp>
      <p:sp>
        <p:nvSpPr>
          <p:cNvPr id="14" name="open-desc">
            <a:extLst xmlns:a="http://schemas.openxmlformats.org/drawingml/2006/main">
              <a:ext uri="{FF2B5EF4-FFF2-40B4-BE49-F238E27FC236}">
                <a16:creationId xmlns:a16="http://schemas.microsoft.com/office/drawing/2014/main" id="{B35B89EC-B685-4AD1-9172-33D81EEF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90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执行分级内核与 append-only 证据账本</a:t>
            </a:r>
          </a:p>
        </p:txBody>
      </p:sp>
      <p:sp>
        <p:nvSpPr>
          <p:cNvPr id="15" name="open-no">
            <a:extLst xmlns:a="http://schemas.openxmlformats.org/drawingml/2006/main">
              <a:ext uri="{FF2B5EF4-FFF2-40B4-BE49-F238E27FC236}">
                <a16:creationId xmlns:a16="http://schemas.microsoft.com/office/drawing/2014/main" id="{E3C9AD4B-E7EC-4EF4-919C-85796E79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open-title">
            <a:extLst xmlns:a="http://schemas.openxmlformats.org/drawingml/2006/main">
              <a:ext uri="{FF2B5EF4-FFF2-40B4-BE49-F238E27FC236}">
                <a16:creationId xmlns:a16="http://schemas.microsoft.com/office/drawing/2014/main" id="{F76C9FEC-3F88-4577-91DF-93B1FA16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4 个 MCP 契约 + 案例集</a:t>
            </a:r>
          </a:p>
        </p:txBody>
      </p:sp>
      <p:sp>
        <p:nvSpPr>
          <p:cNvPr id="17" name="open-desc">
            <a:extLst xmlns:a="http://schemas.openxmlformats.org/drawingml/2006/main">
              <a:ext uri="{FF2B5EF4-FFF2-40B4-BE49-F238E27FC236}">
                <a16:creationId xmlns:a16="http://schemas.microsoft.com/office/drawing/2014/main" id="{3B0AEEE0-DB1F-47F3-B151-5C653C11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29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契约测试、误报陷阱、历史回放样例</a:t>
            </a:r>
          </a:p>
        </p:txBody>
      </p:sp>
      <p:sp>
        <p:nvSpPr>
          <p:cNvPr id="18" name="boundary-panel">
            <a:extLst xmlns:a="http://schemas.openxmlformats.org/drawingml/2006/main">
              <a:ext uri="{FF2B5EF4-FFF2-40B4-BE49-F238E27FC236}">
                <a16:creationId xmlns:a16="http://schemas.microsoft.com/office/drawing/2014/main" id="{8BB8BE0B-9041-479D-9B3D-628B80A9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5529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14E4B6E8-8AF8-4911-9F82-683376E8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安全与伦理边界</a:t>
            </a:r>
          </a:p>
        </p:txBody>
      </p:sp>
      <p:sp>
        <p:nvSpPr>
          <p:cNvPr id="20" name="boundary-dash">
            <a:extLst xmlns:a="http://schemas.openxmlformats.org/drawingml/2006/main">
              <a:ext uri="{FF2B5EF4-FFF2-40B4-BE49-F238E27FC236}">
                <a16:creationId xmlns:a16="http://schemas.microsoft.com/office/drawing/2014/main" id="{A009E8E3-63EF-4F29-B9F8-E987EA3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66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1" name="boundary-item">
            <a:extLst xmlns:a="http://schemas.openxmlformats.org/drawingml/2006/main">
              <a:ext uri="{FF2B5EF4-FFF2-40B4-BE49-F238E27FC236}">
                <a16:creationId xmlns:a16="http://schemas.microsoft.com/office/drawing/2014/main" id="{E748D125-A25F-4249-BB91-8D097C54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不可逆动作永不自动执行</a:t>
            </a:r>
          </a:p>
        </p:txBody>
      </p:sp>
      <p:sp>
        <p:nvSpPr>
          <p:cNvPr id="22" name="boundary-dash">
            <a:extLst xmlns:a="http://schemas.openxmlformats.org/drawingml/2006/main">
              <a:ext uri="{FF2B5EF4-FFF2-40B4-BE49-F238E27FC236}">
                <a16:creationId xmlns:a16="http://schemas.microsoft.com/office/drawing/2014/main" id="{6A3AE76F-6C8A-47FC-B9F6-88B1193D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66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3" name="boundary-item">
            <a:extLst xmlns:a="http://schemas.openxmlformats.org/drawingml/2006/main">
              <a:ext uri="{FF2B5EF4-FFF2-40B4-BE49-F238E27FC236}">
                <a16:creationId xmlns:a16="http://schemas.microsoft.com/office/drawing/2014/main" id="{4AE76AF7-8E98-4DA3-AE61-1D01244D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只回溯已公开定论的历史事件</a:t>
            </a:r>
          </a:p>
        </p:txBody>
      </p:sp>
      <p:sp>
        <p:nvSpPr>
          <p:cNvPr id="24" name="boundary-dash">
            <a:extLst xmlns:a="http://schemas.openxmlformats.org/drawingml/2006/main">
              <a:ext uri="{FF2B5EF4-FFF2-40B4-BE49-F238E27FC236}">
                <a16:creationId xmlns:a16="http://schemas.microsoft.com/office/drawing/2014/main" id="{399E9A53-A661-4151-A090-37D919B8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04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66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5" name="boundary-item">
            <a:extLst xmlns:a="http://schemas.openxmlformats.org/drawingml/2006/main">
              <a:ext uri="{FF2B5EF4-FFF2-40B4-BE49-F238E27FC236}">
                <a16:creationId xmlns:a16="http://schemas.microsoft.com/office/drawing/2014/main" id="{9F061127-61B3-4051-8594-E18F998A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 PII、生产密钥、行内策略不进入开源仓库</a:t>
            </a:r>
          </a:p>
        </p:txBody>
      </p:sp>
      <p:sp>
        <p:nvSpPr>
          <p:cNvPr id="26" name="boundary-dash">
            <a:extLst xmlns:a="http://schemas.openxmlformats.org/drawingml/2006/main">
              <a:ext uri="{FF2B5EF4-FFF2-40B4-BE49-F238E27FC236}">
                <a16:creationId xmlns:a16="http://schemas.microsoft.com/office/drawing/2014/main" id="{434389B1-D9CB-40AC-8511-84587F8D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66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7" name="boundary-item">
            <a:extLst xmlns:a="http://schemas.openxmlformats.org/drawingml/2006/main">
              <a:ext uri="{FF2B5EF4-FFF2-40B4-BE49-F238E27FC236}">
                <a16:creationId xmlns:a16="http://schemas.microsoft.com/office/drawing/2014/main" id="{ADA783FD-F3C6-4FD7-A3F5-B47F128D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存续未定论主体不输出风险结论</a:t>
            </a:r>
          </a:p>
        </p:txBody>
      </p:sp>
      <p:sp>
        <p:nvSpPr>
          <p:cNvPr id="28" name="boundary-dash">
            <a:extLst xmlns:a="http://schemas.openxmlformats.org/drawingml/2006/main">
              <a:ext uri="{FF2B5EF4-FFF2-40B4-BE49-F238E27FC236}">
                <a16:creationId xmlns:a16="http://schemas.microsoft.com/office/drawing/2014/main" id="{D7A5A531-0054-4EF9-9769-C6CA1BAE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91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66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9" name="boundary-item">
            <a:extLst xmlns:a="http://schemas.openxmlformats.org/drawingml/2006/main">
              <a:ext uri="{FF2B5EF4-FFF2-40B4-BE49-F238E27FC236}">
                <a16:creationId xmlns:a16="http://schemas.microsoft.com/office/drawing/2014/main" id="{A7DB7A97-5361-4512-9C63-6CDCAEC7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9105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人工审批可拒绝；拒绝后系统确实不写</a:t>
            </a:r>
          </a:p>
        </p:txBody>
      </p:sp>
      <p:sp>
        <p:nvSpPr>
          <p:cNvPr id="30" name="open-claim">
            <a:extLst xmlns:a="http://schemas.openxmlformats.org/drawingml/2006/main">
              <a:ext uri="{FF2B5EF4-FFF2-40B4-BE49-F238E27FC236}">
                <a16:creationId xmlns:a16="http://schemas.microsoft.com/office/drawing/2014/main" id="{77150117-5C43-4BAF-AE9F-2047C211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开放的目标：让评委和行业能复现、质疑、替换，而不是只能相信演示</a:t>
            </a:r>
          </a:p>
        </p:txBody>
      </p:sp>
      <p:sp>
        <p:nvSpPr>
          <p:cNvPr id="3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747DBBD-C3E4-4B0D-BFCB-E72D5C68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信衡 CreditSentry · GOAI 参赛方案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FC32F7E-76C0-4B5C-B6F9-38BF05E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F677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215955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46FED6CF-BFE5-4389-9E5F-491D17C2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" name="close-a">
            <a:extLst xmlns:a="http://schemas.openxmlformats.org/drawingml/2006/main">
              <a:ext uri="{FF2B5EF4-FFF2-40B4-BE49-F238E27FC236}">
                <a16:creationId xmlns:a16="http://schemas.microsoft.com/office/drawing/2014/main" id="{DDED4AA2-C147-4803-9654-DD97049D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我们交付的不是</a:t>
            </a:r>
          </a:p>
          <a:p xmlns:a="http://schemas.openxmlformats.org/drawingml/2006/main">
            <a:pPr algn="l">
              <a:defRPr sz="43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更聪明的预警</a:t>
            </a:r>
          </a:p>
        </p:txBody>
      </p:sp>
      <p:sp>
        <p:nvSpPr>
          <p:cNvPr id="3" name="close-b">
            <a:extLst xmlns:a="http://schemas.openxmlformats.org/drawingml/2006/main">
              <a:ext uri="{FF2B5EF4-FFF2-40B4-BE49-F238E27FC236}">
                <a16:creationId xmlns:a16="http://schemas.microsoft.com/office/drawing/2014/main" id="{C49F0299-0454-4D83-8362-F1F57606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885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而是一套银行敢用、</a:t>
            </a:r>
          </a:p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监管可查、异常会停的</a:t>
            </a:r>
          </a:p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处置基础设施</a:t>
            </a:r>
          </a:p>
        </p:txBody>
      </p:sp>
      <p:sp>
        <p:nvSpPr>
          <p:cNvPr id="4" name="close-band">
            <a:extLst xmlns:a="http://schemas.openxmlformats.org/drawingml/2006/main">
              <a:ext uri="{FF2B5EF4-FFF2-40B4-BE49-F238E27FC236}">
                <a16:creationId xmlns:a16="http://schemas.microsoft.com/office/drawing/2014/main" id="{3203B54A-CD6A-499E-BB93-96524DB9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209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72">
            <a:extLst xmlns:a="http://schemas.openxmlformats.org/drawingml/2006/main">
              <a:ext uri="{FF2B5EF4-FFF2-40B4-BE49-F238E27FC236}">
                <a16:creationId xmlns:a16="http://schemas.microsoft.com/office/drawing/2014/main" id="{3CD73362-A350-42F7-9A03-22068A27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1811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72</a:t>
            </a:r>
          </a:p>
        </p:txBody>
      </p:sp>
      <p:sp>
        <p:nvSpPr>
          <p:cNvPr id="6" name="close-72-label">
            <a:extLst xmlns:a="http://schemas.openxmlformats.org/drawingml/2006/main">
              <a:ext uri="{FF2B5EF4-FFF2-40B4-BE49-F238E27FC236}">
                <a16:creationId xmlns:a16="http://schemas.microsoft.com/office/drawing/2014/main" id="{34B47C8E-B575-40F2-97D0-9D7AA754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47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安全回归</a:t>
            </a:r>
          </a:p>
        </p:txBody>
      </p:sp>
      <p:sp>
        <p:nvSpPr>
          <p:cNvPr id="7" name="close-906">
            <a:extLst xmlns:a="http://schemas.openxmlformats.org/drawingml/2006/main">
              <a:ext uri="{FF2B5EF4-FFF2-40B4-BE49-F238E27FC236}">
                <a16:creationId xmlns:a16="http://schemas.microsoft.com/office/drawing/2014/main" id="{5110AF49-29EE-4CA8-BF9C-04AEA496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003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906</a:t>
            </a:r>
          </a:p>
        </p:txBody>
      </p:sp>
      <p:sp>
        <p:nvSpPr>
          <p:cNvPr id="8" name="close-906-label">
            <a:extLst xmlns:a="http://schemas.openxmlformats.org/drawingml/2006/main">
              <a:ext uri="{FF2B5EF4-FFF2-40B4-BE49-F238E27FC236}">
                <a16:creationId xmlns:a16="http://schemas.microsoft.com/office/drawing/2014/main" id="{BFFFEC75-BA5A-4368-936B-668B20D4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67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 用例</a:t>
            </a:r>
          </a:p>
        </p:txBody>
      </p:sp>
      <p:sp>
        <p:nvSpPr>
          <p:cNvPr id="9" name="close-13">
            <a:extLst xmlns:a="http://schemas.openxmlformats.org/drawingml/2006/main">
              <a:ext uri="{FF2B5EF4-FFF2-40B4-BE49-F238E27FC236}">
                <a16:creationId xmlns:a16="http://schemas.microsoft.com/office/drawing/2014/main" id="{06753E3A-9732-40DC-B42F-B5B4DF08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196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0" name="close-13-label">
            <a:extLst xmlns:a="http://schemas.openxmlformats.org/drawingml/2006/main">
              <a:ext uri="{FF2B5EF4-FFF2-40B4-BE49-F238E27FC236}">
                <a16:creationId xmlns:a16="http://schemas.microsoft.com/office/drawing/2014/main" id="{3658E9DE-6CB4-45EA-ADCC-0DE4771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86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故障模式</a:t>
            </a:r>
          </a:p>
        </p:txBody>
      </p:sp>
      <p:sp>
        <p:nvSpPr>
          <p:cNvPr id="11" name="close-demo">
            <a:extLst xmlns:a="http://schemas.openxmlformats.org/drawingml/2006/main">
              <a:ext uri="{FF2B5EF4-FFF2-40B4-BE49-F238E27FC236}">
                <a16:creationId xmlns:a16="http://schemas.microsoft.com/office/drawing/2014/main" id="{2CDEB9B3-3893-4CC7-8B50-41415B0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0"/>
                </a:solidFill>
                <a:latin typeface="PingFang SC"/>
                <a:ea typeface="PingFang SC"/>
                <a:cs typeface="PingFang SC"/>
              </a:rPr>
              <a:t>现场可复现 · 可翻案 · 可驳回 · 可越权测试</a:t>
            </a:r>
          </a:p>
        </p:txBody>
      </p:sp>
    </p:spTree>
    <p:extLst>
      <p:ext uri="{BB962C8B-B14F-4D97-AF65-F5344CB8AC3E}">
        <p14:creationId xmlns:p14="http://schemas.microsoft.com/office/powerpoint/2010/main" val="1279106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2026-08-15T15:35:16.5950000Z</dcterms:created>
  <dcterms:modified xsi:type="dcterms:W3CDTF">2026-08-15T15:35:16.5950000Z</dcterms:modified>
</coreProperties>
</file>